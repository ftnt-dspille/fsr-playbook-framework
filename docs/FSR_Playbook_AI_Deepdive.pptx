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is one connector that ships inside FortiSOAR / FortiSOC. Frame for PMs: we are not adding a chat assistant — we are adding an analyst.</a:t>
            </a:r>
          </a:p>
          <a:p>
            <a:r>
              <a:t>Three things to land in 30 seconds:</a:t>
            </a:r>
          </a:p>
          <a:p>
            <a:r>
              <a:t>1) It actually does the investigation across the real stack, not a summary.</a:t>
            </a:r>
          </a:p>
          <a:p>
            <a:r>
              <a:t>2) Any action that changes state is gated by a human.</a:t>
            </a:r>
          </a:p>
          <a:p>
            <a:r>
              <a:t>3) The wow: the AI's investigation is automatically captured as a deterministic playbook — so we use AI to FIND the pattern once, then run it forever without AI. That's the line that should make a PM lean in.</a:t>
            </a:r>
          </a:p>
          <a:p>
            <a:r>
              <a:t>Note 'live on FortiCloud SOAR 7.6.5' — this is real and running, not a concept.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contrast. Every vendor is shipping 'AI in the SOC' right now and 90% of it is a text box that summarizes the alert. PMs have seen ten of those demos this quarter.</a:t>
            </a:r>
          </a:p>
          <a:p>
            <a:r>
              <a:t>Three failure modes — say them plainly:</a:t>
            </a:r>
          </a:p>
          <a:p>
            <a:r>
              <a:t>- It summarizes but never investigates. It can't tell you anything the alert didn't already say.</a:t>
            </a:r>
          </a:p>
          <a:p>
            <a:r>
              <a:t>- Its enrichment is made up. 'Probably malicious' with no source is worse than nothing — it can't be put in a ticket or trusted.</a:t>
            </a:r>
          </a:p>
          <a:p>
            <a:r>
              <a:t>- It can't be trusted to take action, because if it can hallucinate a fact it can hallucinate a block.</a:t>
            </a:r>
          </a:p>
          <a:p>
            <a:r>
              <a:t>Land the bottom line: the gap isn't model quality, it's plumbing and control. We solved both.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slide — the one-liner is 'it runs the investigation, not its mouth.'</a:t>
            </a:r>
          </a:p>
          <a:p>
            <a:r>
              <a:t>Walk the four rows left-to-right; each is a 'them vs us':</a:t>
            </a:r>
          </a:p>
          <a:p>
            <a:r>
              <a:t>- A summary restates the alert; we pull the events that triggered it out of SIEM/FAZ.</a:t>
            </a:r>
          </a:p>
          <a:p>
            <a:r>
              <a:t>- They say 'probably malicious'; we return cited verdicts you can paste into a ticket.</a:t>
            </a:r>
          </a:p>
          <a:p>
            <a:r>
              <a:t>- They suggest you go block it; we stage the block, the analyst approves, and it actually executes — even against an isolated on-prem box.</a:t>
            </a:r>
          </a:p>
          <a:p>
            <a:r>
              <a:t>- They leave you where you started; we hand you a reusable playbook.</a:t>
            </a:r>
          </a:p>
          <a:p>
            <a:r>
              <a:t>The phrase 'reachable even on-prem' in the box is a hook for slide 11 — don't over-explain it here, just plant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framing for this audience: the widget is NOT the product. The connector is. The widget is just a window — everything that matters (the reasoning loop, the tools, the safety gating, the trace capture) lives in the connector, server-side, inside FortiSOAR.</a:t>
            </a:r>
          </a:p>
          <a:p>
            <a:r>
              <a:t>Why this matters to a PM: it means this rides the entire FortiSOAR distribution and licensing model. No new appliance, no new console, no agent to push to endpoints — it's a connector. Install it the way you install any connector.</a:t>
            </a:r>
          </a:p>
          <a:p>
            <a:r>
              <a:t>The reach grid is the proof of 'wired to the stack': name a couple — FortiSIEM hunting tools, real TI sources, and the 714+ connector library that means 'any third-party tool' including non-Fortinet SIEMs. Tee up that last cell for the vendor-agnostic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next several slides — point at it and say 'we'll drill into each box.'</a:t>
            </a:r>
          </a:p>
          <a:p>
            <a:r>
              <a:t>The key idea is that the whole loop is made of recorded tool calls. That recording is what makes step 6 (Capture) possible — hold that thought, it pays off as the hero slide later.</a:t>
            </a:r>
          </a:p>
          <a:p>
            <a:r>
              <a:t>Emphasize the bottom line for PMs: the analyst never leaves the FortiSOAR record and never writes a SIEM query by hand. That's the day-to-day time save. The verdict + audit trail + playbook is what they walk away with.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'why it's accurate, not just confident' slide. Skeptics worry AI makes things up — the answer is we don't let it start from a blank prompt.</a:t>
            </a:r>
          </a:p>
          <a:p>
            <a:r>
              <a:t>Three layers, plain language:</a:t>
            </a:r>
          </a:p>
          <a:p>
            <a:r>
              <a:t>- Normalize: we extract the real indicators (IPs, hosts, users, hashes) and, critically, pull the FULL set of triggering events — the evidence the alert view usually truncates. The model sees the facts.</a:t>
            </a:r>
          </a:p>
          <a:p>
            <a:r>
              <a:t>- Classify: we recognize the scenario (C2, malware, exfil…) and hand the agent proven opening moves, like an experienced analyst's playbook-in-the-head.</a:t>
            </a:r>
          </a:p>
          <a:p>
            <a:r>
              <a:t>- Build prompt: we assemble a 'what we know' brief and point it at the right tools.</a:t>
            </a:r>
          </a:p>
          <a:p>
            <a:r>
              <a:t>PM takeaway: accuracy is engineered upstream. Less hallucination, fewer wasted tokens, faster verdicts.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Hunting is where analysts spend real time today, and it's specialist work — you need someone who knows the SIEM query language.</a:t>
            </a:r>
          </a:p>
          <a:p>
            <a:r>
              <a:t>The point: the agent has purpose-built hunting tools. The analyst (or the AI) says 'show me everything talking to this IP in the last 2 hours' and we translate friendly fields to backend attributes, submit, poll, and digest the result.</a:t>
            </a:r>
          </a:p>
          <a:p>
            <a:r>
              <a:t>Two credibility points for technical PMs:</a:t>
            </a:r>
          </a:p>
          <a:p>
            <a:r>
              <a:t>- We matched the tool to the source (SIEM alert → SIEM tools, FAZ → FAZ tools) so it pivots in EVERY system, not just one.</a:t>
            </a:r>
          </a:p>
          <a:p>
            <a:r>
              <a:t>- We hardened the transport — we use the modern JSON APIs because the legacy query path errors out on some versions. This is the kind of detail that says 'this was built by people who run it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Enrichment is the antidote to the 'hallucinated verdict' fear from slide 2.</a:t>
            </a:r>
          </a:p>
          <a:p>
            <a:r>
              <a:t>The connector doesn't have a hard-coded list of intel sources and it doesn't make up verdicts — it DISCOVERS which intel connectors you actually have configured and healthy, then uses those. Every verdict is attributable to a named op like virustotal/ip_reputation. You can put it in a ticket.</a:t>
            </a:r>
          </a:p>
          <a:p>
            <a:r>
              <a:t>The ranking + per-connector cap detail shows this is curated, not a firehose — we lead with the best sources and don't let one chatty connector dominate.</a:t>
            </a:r>
          </a:p>
          <a:p>
            <a:r>
              <a:t>The curation box is a nice efficiency proof: a hydrated alert is ~100KB of mostly audit noise; we shrink it to the indicators that matter. That's lower token cost and faster, sharper reasoning — a margin story a PM cares about.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 slide. The #1 objection to 'AI that acts' is 'what if it does something destructive.' Our answer is structural, not a promise: the AI can never silently fire a state-changing action.</a:t>
            </a:r>
          </a:p>
          <a:p>
            <a:r>
              <a:t>Walk the flow: it DISCOVERS the response options, STAGES one as an editable card, and then HALTS. Nothing executes until the analyst edits the args and approves. The approval is durable — it survives across sessions, so an action staged now can be approved later.</a:t>
            </a:r>
          </a:p>
          <a:p>
            <a:r>
              <a:t>'Never a dead end' is a deliberate product principle: if you don't have a block connector, it doesn't shrug — it tells you exactly which connector to enable and gives you a button to resume. The AI always hands the analyst a path forward.</a:t>
            </a:r>
          </a:p>
          <a:p>
            <a:r>
              <a:t>Tee up slide 11: '…and approve doesn't just mean the API is reachable — watch what happens when the target is on-prem.'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up the trust claim with the mechanism. Every single tool the AI can call is tagged with a tier 0–4. Read-only things (discovery, hunting, enrichment) run automatically. Anything that changes state — tier 3 and 4 — physically cannot dispatch without a human decision.</a:t>
            </a:r>
          </a:p>
          <a:p>
            <a:r>
              <a:t>The line that matters: this is dispatch logic, not a prompt instruction. We're not asking the model nicely to behave. The code refuses to execute the call. Even if the model were jailbroken or wrong, the gate holds.</a:t>
            </a:r>
          </a:p>
          <a:p>
            <a:r>
              <a:t>For a PM thinking about enterprise sales and risk/compliance: this is the slide your security-conscious customers will want. It's auditable, it's deterministic, and it maps cleanly to 'analyst-in-the-loop' controls they already require.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hero slide — slow down.</a:t>
            </a:r>
          </a:p>
          <a:p>
            <a:r>
              <a:t>The strategic point: FortiSOC is a SaaS. The single biggest limitation of cloud security tooling is that it can't reach into the customer's network. And the most valuable response actions are exactly there — disabling a compromised account on an on-prem Active Directory server, blocking on an internal firewall, isolating a host on an air-gapped segment. A cloud analyst that can investigate but can't respond on-prem is only half a product.</a:t>
            </a:r>
          </a:p>
          <a:p>
            <a:r>
              <a:t>The connector closes that gap. It drives the action through the on-prem FortiSOAR agent, executes it locally, and — this is the technically hard part — gets the real result back to the cloud. Agent execution is fire-and-forget by design (you fire the action and the platform never hands you the result), so we run it as a one-shot workflow engineered to capture and return the outcome. The op runs exactly once. No orphaned actions, no double-blocks.</a:t>
            </a:r>
          </a:p>
          <a:p>
            <a:r>
              <a:t>Why PMs should care: a huge number of customers use FortiSOAR as their automation backbone precisely because it reaches everywhere. This makes the AI layer reach everywhere too. 'Automate anything, anywhere — including the stuff your SaaS competitors physically can't touch.'</a:t>
            </a:r>
          </a:p>
          <a:p>
            <a:r>
              <a:t>Live-verified — say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slide — don't read all six. The message is meta: 'this is engineered, not vibes.' Pick two examples:</a:t>
            </a:r>
          </a:p>
          <a:p>
            <a:r>
              <a:t>- Forced assessment: the AI can't trail off after running tools — we force it to land a verdict and a next action every time. No 'here's some data, good luck.'</a:t>
            </a:r>
          </a:p>
          <a:p>
            <a:r>
              <a:t>- Repeated-error guard: it won't get stuck retrying the same failing call. No runaway loops, no surprise bills.</a:t>
            </a:r>
          </a:p>
          <a:p>
            <a:r>
              <a:t>Then land the closer: every one of these has a unit test, so the loop behaves identically on run #1 and run #1000. That consistency is exactly what you need before you trust automation — and it's what makes the playbook-capture story credible.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If they remember one thing, make it this. Slow down and tell it as a story.</a:t>
            </a:r>
          </a:p>
          <a:p>
            <a:r>
              <a:t>The insight: AI's real superpower in the SOC isn't answering questions — it's that it can EXPLORE faster than any human. It'll try ten query patterns, pivot across five indicators, experiment with API calls, in seconds. That's genuine investigative reasoning, compressed.</a:t>
            </a:r>
          </a:p>
          <a:p>
            <a:r>
              <a:t>But here's the trap everyone else falls into: they then rely on the AI to RUN that investigation every single time. That's expensive, it's slow, and it's non-deterministic — you can't build a SOC's steady-state operations on 'the model will probably do the same thing again.'</a:t>
            </a:r>
          </a:p>
          <a:p>
            <a:r>
              <a:t>Our move: we capture the winning run. Because every step of the investigation was a recorded tool call, we automatically compile it into a deterministic playbook — and the wiring between steps is derived from the REAL values the agent observed, not guessed. So the moment of genius happens once, with AI. Then it's bottled. Any L1 analyst can run that playbook on the next similar alert — instantly, consistently, at zero model cost, with no AI in the loop.</a:t>
            </a:r>
          </a:p>
          <a:p>
            <a:r>
              <a:t>The soundbite: 'AI to discover the pattern. A playbook to run it. We bottle the moment of genius so it's not a one-time event — it's institutional knowledge any analyst can pour out on demand.'</a:t>
            </a:r>
          </a:p>
          <a:p>
            <a:r>
              <a:t>This is also a moat story: every investigation your analysts run makes your playbook library richer. The product gets more valuable the more it's used.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concrete with a real scenario. This is a command-and-control / data-exfiltration case: a user's desktop is beaconing out to a Nigerian IP, with a suspicious binary (7ogger.exe) involved.</a:t>
            </a:r>
          </a:p>
          <a:p>
            <a:r>
              <a:t>Walk the six steps as the analyst's lived experience — emphasize what they DIDN'T have to do:</a:t>
            </a:r>
          </a:p>
          <a:p>
            <a:r>
              <a:t>- They open the alert. They don't write a prompt; it's already grounded.</a:t>
            </a:r>
          </a:p>
          <a:p>
            <a:r>
              <a:t>- They don't write a SIEM query; the agent hunts and confirms the beaconing.</a:t>
            </a:r>
          </a:p>
          <a:p>
            <a:r>
              <a:t>- They don't tab out to VirusTotal; enrichment comes back cited.</a:t>
            </a:r>
          </a:p>
          <a:p>
            <a:r>
              <a:t>- They get a forced, decisive verdict — not a wishy-washy summary.</a:t>
            </a:r>
          </a:p>
          <a:p>
            <a:r>
              <a:t>- They approve one block. That's the only click that matters, and it's theirs.</a:t>
            </a:r>
          </a:p>
          <a:p>
            <a:r>
              <a:t>- And they walk away with a playbook for the next time this pattern shows up.</a:t>
            </a:r>
          </a:p>
          <a:p>
            <a:r>
              <a:t>This is the 'day in the life' that makes the abstract slides real. If you have a recorded demo, this is where you'd play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neutralizes the 'we're an all-Fortinet shop / we're NOT a Fortinet shop' objection in both directions.</a:t>
            </a:r>
          </a:p>
          <a:p>
            <a:r>
              <a:t>Key fact PMs should internalize and repeat: FortiSOAR has integrated with third-party SIEMs and security tools natively since it was created. That 714+ connector library isn't new — it's a decade-plus of integration work. This AI layer rides on ALL of it. So we can deliver the same enrichment, hunting and containment quality whether the customer runs Splunk, CrowdStrike, Palo Alto, whatever.</a:t>
            </a:r>
          </a:p>
          <a:p>
            <a:r>
              <a:t>Then the honest, sharp positioning of FortiSOC: the integration breadth was always there. What FortiSOC changes is the GO-TO-MARKET — it unifies Fortinet logging, incident management, and response into one product we can sell as a unit. The AI layer makes that unified product feel like a single intelligent system rather than a bundle.</a:t>
            </a:r>
          </a:p>
          <a:p>
            <a:r>
              <a:t>For a PM building the pitch: this is both a competitive moat (breadth) and a packaging story (unification). Use whichever the room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vision. Today it's an assistant the analyst drives. The roadmap is autonomy with oversight.</a:t>
            </a:r>
          </a:p>
          <a:p>
            <a:r>
              <a:t>1) AI investigation queue: as you scale to many concurrent AI investigations, you need a watchtower — one place to see everything in flight and a single, central spot where approvals and guardrails surface. This is the operational control plane for AI in the SOC, and it's a natural next product surface.</a:t>
            </a:r>
          </a:p>
          <a:p>
            <a:r>
              <a:t>2) Auto-triage on case creation: flip it from analyst-initiated to event-driven. The moment a case is created, the connector runs full level-1 triage on its own, then escalates to a human WITH the findings attached. Your analysts stop starting from zero — they start at the verdict. This is the headline efficiency play: collapse the L1 tier.</a:t>
            </a:r>
          </a:p>
          <a:p>
            <a:r>
              <a:t>3) False-positive auto-close + rule tuning: for noisy rules, it confirms the false positive, closes the alert and case, AND tells you precisely where to tune the FAZ/SIEM rule that fired — closing the loop back to the detection source via MCP. This attacks alert fatigue at the root, not just the symptom.</a:t>
            </a:r>
          </a:p>
          <a:p>
            <a:r>
              <a:t>Tie it together: each of these is the same connector, same safety model, pointed at a bigger slice of the workflow. The destination is an autonomous tier-1 SOC that humans supervise instead of staff.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defensible claims — four, one per quadrant:</a:t>
            </a:r>
          </a:p>
          <a:p>
            <a:r>
              <a:t>- It touches the real stack (not a summary).</a:t>
            </a:r>
          </a:p>
          <a:p>
            <a:r>
              <a:t>- It reaches on-prem and isolated targets (the SaaS-can't story) — and it's live-proofed, not theoretical.</a:t>
            </a:r>
          </a:p>
          <a:p>
            <a:r>
              <a:t>- Action is gated by code (the trust story) — structural, not a prompt.</a:t>
            </a:r>
          </a:p>
          <a:p>
            <a:r>
              <a:t>- It compounds — this is the business kicker. Unlike a feature that delivers fixed value, this gets MORE valuable the more it's used, because every investigation can be bottled into the playbook library.</a:t>
            </a:r>
          </a:p>
          <a:p>
            <a:r>
              <a:t>End on 'compounds' — it's the line that turns a feature into a platform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De-risk the 'how hard is this to adopt' question. It's a connector. It installs through the same mechanism as every other FortiSOAR connector — no new appliance, no endpoint agent rollout, no separate console to stand up or train on. The widget just surfaces it on the record the analyst already uses.</a:t>
            </a:r>
          </a:p>
          <a:p>
            <a:r>
              <a:t>Reinforce the components: the connector is the engine, the widget is the surface, and fsr_core is the shared brain that both the connector and the widget run.</a:t>
            </a:r>
          </a:p>
          <a:p>
            <a:r>
              <a:t>The 'already real today' strip is your credibility anchor: it's live on a real build, the guardrails have tests, remote agent execution is proven, and it works across 700+ connectors. This is not a prototype slideware pitch — it's running.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land the slogan: 'AI finds the pattern; a playbook runs it forever.' That single sentence is the whole pitch.</a:t>
            </a:r>
          </a:p>
          <a:p>
            <a:r>
              <a:t>Recap the four pillars (stack reach, on-prem reach, gated action, compounding value), then stop talking. Ask for what you came for — pilot customers, eng investment, a design-partner, whatever the ask is.</a:t>
            </a:r>
          </a:p>
          <a:p>
            <a:r>
              <a:t>If you get one question, expect 'how do you stop it doing something dumb' — point back to the tier model (slide 10). The second most likely is 'does it work with non-Fortinet tools' — slide 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98480" cy="137160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3600" b="1" i="0">
                <a:solidFill>
                  <a:srgbClr val="E6EDF3"/>
                </a:solidFill>
                <a:latin typeface="Calibri"/>
              </a:rPr>
              <a:t>The connector that turns FortiSOAR</a:t>
            </a:r>
          </a:p>
          <a:p>
            <a:pPr algn="l">
              <a:lnSpc>
                <a:spcPct val="105000"/>
              </a:lnSpc>
              <a:spcBef>
                <a:spcPts val="0"/>
              </a:spcBef>
              <a:spcAft>
                <a:spcPts val="400"/>
              </a:spcAft>
            </a:pPr>
            <a:r>
              <a:rPr sz="3600" b="1" i="0">
                <a:solidFill>
                  <a:srgbClr val="4C9AFF"/>
                </a:solidFill>
                <a:latin typeface="Calibri"/>
              </a:rPr>
              <a:t>into an autonomous SOC analyst.</a:t>
            </a:r>
          </a:p>
        </p:txBody>
      </p:sp>
      <p:sp>
        <p:nvSpPr>
          <p:cNvPr id="5" name="TextBox 4"/>
          <p:cNvSpPr txBox="1"/>
          <p:nvPr/>
        </p:nvSpPr>
        <p:spPr>
          <a:xfrm>
            <a:off x="841248" y="3474720"/>
            <a:ext cx="10241280" cy="822960"/>
          </a:xfrm>
          <a:prstGeom prst="rect">
            <a:avLst/>
          </a:prstGeom>
          <a:noFill/>
        </p:spPr>
        <p:txBody>
          <a:bodyPr wrap="square" anchor="t" lIns="25400" rIns="25400" tIns="25400" bIns="25400">
            <a:spAutoFit/>
          </a:bodyPr>
          <a:lstStyle/>
          <a:p>
            <a:pPr algn="l">
              <a:lnSpc>
                <a:spcPct val="112000"/>
              </a:lnSpc>
              <a:spcBef>
                <a:spcPts val="0"/>
              </a:spcBef>
              <a:spcAft>
                <a:spcPts val="400"/>
              </a:spcAft>
            </a:pPr>
            <a:r>
              <a:rPr sz="1700" b="0" i="0">
                <a:solidFill>
                  <a:srgbClr val="E6EDF3"/>
                </a:solidFill>
                <a:latin typeface="Calibri"/>
              </a:rPr>
              <a:t>AI investigates, hunts and enriches across your stack — then </a:t>
            </a:r>
            <a:r>
              <a:rPr sz="1700" b="1" i="0">
                <a:solidFill>
                  <a:srgbClr val="3FD99B"/>
                </a:solidFill>
                <a:latin typeface="Calibri"/>
              </a:rPr>
              <a:t>bottles that investigation into a repeatable playbook</a:t>
            </a:r>
            <a:r>
              <a:rPr sz="1700" b="0" i="0">
                <a:solidFill>
                  <a:srgbClr val="E6EDF3"/>
                </a:solidFill>
                <a:latin typeface="Calibri"/>
              </a:rPr>
              <a:t> any analyst can run, forever.</a:t>
            </a:r>
          </a:p>
        </p:txBody>
      </p:sp>
      <p:sp>
        <p:nvSpPr>
          <p:cNvPr id="6" name="Rounded Rectangle 5"/>
          <p:cNvSpPr/>
          <p:nvPr/>
        </p:nvSpPr>
        <p:spPr>
          <a:xfrm>
            <a:off x="841248" y="4526280"/>
            <a:ext cx="1833372" cy="310896"/>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4544568"/>
            <a:ext cx="1833372" cy="274320"/>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00" b="1" i="0">
                <a:solidFill>
                  <a:srgbClr val="4C9AFF"/>
                </a:solidFill>
                <a:latin typeface="Calibri"/>
              </a:rPr>
              <a:t>Investigate</a:t>
            </a:r>
          </a:p>
        </p:txBody>
      </p:sp>
      <p:sp>
        <p:nvSpPr>
          <p:cNvPr id="8" name="Rounded Rectangle 7"/>
          <p:cNvSpPr/>
          <p:nvPr/>
        </p:nvSpPr>
        <p:spPr>
          <a:xfrm>
            <a:off x="2839212" y="4526280"/>
            <a:ext cx="841247" cy="310896"/>
          </a:xfrm>
          <a:prstGeom prst="roundRect">
            <a:avLst/>
          </a:prstGeom>
          <a:solidFill>
            <a:srgbClr val="1E2633"/>
          </a:solidFill>
          <a:ln w="12700">
            <a:solidFill>
              <a:srgbClr val="B4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9212" y="4544568"/>
            <a:ext cx="841247" cy="274320"/>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00" b="1" i="0">
                <a:solidFill>
                  <a:srgbClr val="B48EFF"/>
                </a:solidFill>
                <a:latin typeface="Calibri"/>
              </a:rPr>
              <a:t>Hunt</a:t>
            </a:r>
          </a:p>
        </p:txBody>
      </p:sp>
      <p:sp>
        <p:nvSpPr>
          <p:cNvPr id="10" name="Rounded Rectangle 9"/>
          <p:cNvSpPr/>
          <p:nvPr/>
        </p:nvSpPr>
        <p:spPr>
          <a:xfrm>
            <a:off x="3845052" y="4526280"/>
            <a:ext cx="1124712" cy="310896"/>
          </a:xfrm>
          <a:prstGeom prst="roundRect">
            <a:avLst/>
          </a:prstGeom>
          <a:solidFill>
            <a:srgbClr val="1E2633"/>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5052" y="4544568"/>
            <a:ext cx="1124712" cy="274320"/>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00" b="1" i="0">
                <a:solidFill>
                  <a:srgbClr val="3FD99B"/>
                </a:solidFill>
                <a:latin typeface="Calibri"/>
              </a:rPr>
              <a:t>Enrich</a:t>
            </a:r>
          </a:p>
        </p:txBody>
      </p:sp>
      <p:sp>
        <p:nvSpPr>
          <p:cNvPr id="12" name="Rounded Rectangle 11"/>
          <p:cNvSpPr/>
          <p:nvPr/>
        </p:nvSpPr>
        <p:spPr>
          <a:xfrm>
            <a:off x="5134356" y="4526280"/>
            <a:ext cx="2258568" cy="310896"/>
          </a:xfrm>
          <a:prstGeom prst="roundRect">
            <a:avLst/>
          </a:prstGeom>
          <a:solidFill>
            <a:srgbClr val="1E2633"/>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4356" y="4544568"/>
            <a:ext cx="2258568" cy="274320"/>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00" b="1" i="0">
                <a:solidFill>
                  <a:srgbClr val="FFB454"/>
                </a:solidFill>
                <a:latin typeface="Calibri"/>
              </a:rPr>
              <a:t>Contain (HITL)</a:t>
            </a:r>
          </a:p>
        </p:txBody>
      </p:sp>
      <p:sp>
        <p:nvSpPr>
          <p:cNvPr id="14" name="Rounded Rectangle 13"/>
          <p:cNvSpPr/>
          <p:nvPr/>
        </p:nvSpPr>
        <p:spPr>
          <a:xfrm>
            <a:off x="7557516" y="4526280"/>
            <a:ext cx="1691640" cy="310896"/>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57516" y="4544568"/>
            <a:ext cx="1691640" cy="274320"/>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00" b="1" i="0">
                <a:solidFill>
                  <a:srgbClr val="4C9AFF"/>
                </a:solidFill>
                <a:latin typeface="Calibri"/>
              </a:rPr>
              <a:t>→ Playbook</a:t>
            </a:r>
          </a:p>
        </p:txBody>
      </p:sp>
      <p:sp>
        <p:nvSpPr>
          <p:cNvPr id="16" name="TextBox 15"/>
          <p:cNvSpPr txBox="1"/>
          <p:nvPr/>
        </p:nvSpPr>
        <p:spPr>
          <a:xfrm>
            <a:off x="841248" y="5943600"/>
            <a:ext cx="10058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0" i="0">
                <a:solidFill>
                  <a:srgbClr val="9AA7B4"/>
                </a:solidFill>
                <a:latin typeface="Calibri"/>
              </a:rPr>
              <a:t>In-platform connector (MCP agent)  ·  AngularJS widget  ·  live on FortiCloud SOAR 7.6.5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THE PROBLEM WITH 'AI FOR THE SOC'</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Most “AI in the SOC” is a summary box</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It reads the alert and writes a paragraph. It never touches your stack.</a:t>
            </a:r>
          </a:p>
        </p:txBody>
      </p:sp>
      <p:sp>
        <p:nvSpPr>
          <p:cNvPr id="7" name="Rounded Rectangle 6"/>
          <p:cNvSpPr/>
          <p:nvPr/>
        </p:nvSpPr>
        <p:spPr>
          <a:xfrm>
            <a:off x="548640" y="2011680"/>
            <a:ext cx="3611880" cy="33832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3611880" cy="9144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40280"/>
            <a:ext cx="3200400" cy="64008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50" b="1" i="0">
                <a:solidFill>
                  <a:srgbClr val="E6EDF3"/>
                </a:solidFill>
                <a:latin typeface="Calibri"/>
              </a:rPr>
              <a:t>Summarizes, doesn't investigate</a:t>
            </a:r>
          </a:p>
        </p:txBody>
      </p:sp>
      <p:sp>
        <p:nvSpPr>
          <p:cNvPr id="10" name="TextBox 9"/>
          <p:cNvSpPr txBox="1"/>
          <p:nvPr/>
        </p:nvSpPr>
        <p:spPr>
          <a:xfrm>
            <a:off x="777240" y="3063240"/>
            <a:ext cx="3200400" cy="2194560"/>
          </a:xfrm>
          <a:prstGeom prst="rect">
            <a:avLst/>
          </a:prstGeom>
          <a:noFill/>
        </p:spPr>
        <p:txBody>
          <a:bodyPr wrap="square" anchor="t" lIns="25400" rIns="25400" tIns="25400" bIns="25400">
            <a:spAutoFit/>
          </a:bodyPr>
          <a:lstStyle/>
          <a:p>
            <a:pPr algn="l">
              <a:lnSpc>
                <a:spcPct val="108000"/>
              </a:lnSpc>
              <a:spcBef>
                <a:spcPts val="0"/>
              </a:spcBef>
              <a:spcAft>
                <a:spcPts val="400"/>
              </a:spcAft>
            </a:pPr>
            <a:r>
              <a:rPr sz="1200" b="0" i="0">
                <a:solidFill>
                  <a:srgbClr val="9AA7B4"/>
                </a:solidFill>
                <a:latin typeface="Calibri"/>
              </a:rPr>
              <a:t>It restates the alert fields.</a:t>
            </a:r>
          </a:p>
          <a:p>
            <a:pPr algn="l">
              <a:lnSpc>
                <a:spcPct val="108000"/>
              </a:lnSpc>
              <a:spcBef>
                <a:spcPts val="0"/>
              </a:spcBef>
              <a:spcAft>
                <a:spcPts val="400"/>
              </a:spcAft>
            </a:pPr>
            <a:r>
              <a:rPr sz="1200" b="0" i="0">
                <a:solidFill>
                  <a:srgbClr val="9AA7B4"/>
                </a:solidFill>
                <a:latin typeface="Calibri"/>
              </a:rPr>
              <a:t>It doesn't query FortiSIEM,</a:t>
            </a:r>
          </a:p>
          <a:p>
            <a:pPr algn="l">
              <a:lnSpc>
                <a:spcPct val="108000"/>
              </a:lnSpc>
              <a:spcBef>
                <a:spcPts val="0"/>
              </a:spcBef>
              <a:spcAft>
                <a:spcPts val="400"/>
              </a:spcAft>
            </a:pPr>
            <a:r>
              <a:rPr sz="1200" b="0" i="0">
                <a:solidFill>
                  <a:srgbClr val="9AA7B4"/>
                </a:solidFill>
                <a:latin typeface="Calibri"/>
              </a:rPr>
              <a:t>doesn't pivot the indicators,</a:t>
            </a:r>
          </a:p>
          <a:p>
            <a:pPr algn="l">
              <a:lnSpc>
                <a:spcPct val="108000"/>
              </a:lnSpc>
              <a:spcBef>
                <a:spcPts val="0"/>
              </a:spcBef>
              <a:spcAft>
                <a:spcPts val="400"/>
              </a:spcAft>
            </a:pPr>
            <a:r>
              <a:rPr sz="1200" b="0" i="0">
                <a:solidFill>
                  <a:srgbClr val="9AA7B4"/>
                </a:solidFill>
                <a:latin typeface="Calibri"/>
              </a:rPr>
              <a:t>doesn't pull the events that</a:t>
            </a:r>
          </a:p>
          <a:p>
            <a:pPr algn="l">
              <a:lnSpc>
                <a:spcPct val="108000"/>
              </a:lnSpc>
              <a:spcBef>
                <a:spcPts val="0"/>
              </a:spcBef>
              <a:spcAft>
                <a:spcPts val="400"/>
              </a:spcAft>
            </a:pPr>
            <a:r>
              <a:rPr sz="1200" b="0" i="0">
                <a:solidFill>
                  <a:srgbClr val="9AA7B4"/>
                </a:solidFill>
                <a:latin typeface="Calibri"/>
              </a:rPr>
              <a:t>actually triggered the case.</a:t>
            </a:r>
          </a:p>
        </p:txBody>
      </p:sp>
      <p:sp>
        <p:nvSpPr>
          <p:cNvPr id="11" name="Rounded Rectangle 10"/>
          <p:cNvSpPr/>
          <p:nvPr/>
        </p:nvSpPr>
        <p:spPr>
          <a:xfrm>
            <a:off x="4370831" y="2011680"/>
            <a:ext cx="3611880" cy="33832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1" y="2011680"/>
            <a:ext cx="3611880" cy="9144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1" y="2240280"/>
            <a:ext cx="3200400" cy="64008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50" b="1" i="0">
                <a:solidFill>
                  <a:srgbClr val="E6EDF3"/>
                </a:solidFill>
                <a:latin typeface="Calibri"/>
              </a:rPr>
              <a:t>Hallucinated enrichment</a:t>
            </a:r>
          </a:p>
        </p:txBody>
      </p:sp>
      <p:sp>
        <p:nvSpPr>
          <p:cNvPr id="14" name="TextBox 13"/>
          <p:cNvSpPr txBox="1"/>
          <p:nvPr/>
        </p:nvSpPr>
        <p:spPr>
          <a:xfrm>
            <a:off x="4599431" y="3063240"/>
            <a:ext cx="3200400" cy="2194560"/>
          </a:xfrm>
          <a:prstGeom prst="rect">
            <a:avLst/>
          </a:prstGeom>
          <a:noFill/>
        </p:spPr>
        <p:txBody>
          <a:bodyPr wrap="square" anchor="t" lIns="25400" rIns="25400" tIns="25400" bIns="25400">
            <a:spAutoFit/>
          </a:bodyPr>
          <a:lstStyle/>
          <a:p>
            <a:pPr algn="l">
              <a:lnSpc>
                <a:spcPct val="108000"/>
              </a:lnSpc>
              <a:spcBef>
                <a:spcPts val="0"/>
              </a:spcBef>
              <a:spcAft>
                <a:spcPts val="400"/>
              </a:spcAft>
            </a:pPr>
            <a:r>
              <a:rPr sz="1200" b="0" i="0">
                <a:solidFill>
                  <a:srgbClr val="9AA7B4"/>
                </a:solidFill>
                <a:latin typeface="Calibri"/>
              </a:rPr>
              <a:t>“This IP is likely malicious”</a:t>
            </a:r>
          </a:p>
          <a:p>
            <a:pPr algn="l">
              <a:lnSpc>
                <a:spcPct val="108000"/>
              </a:lnSpc>
              <a:spcBef>
                <a:spcPts val="0"/>
              </a:spcBef>
              <a:spcAft>
                <a:spcPts val="400"/>
              </a:spcAft>
            </a:pPr>
            <a:r>
              <a:rPr sz="1200" b="0" i="0">
                <a:solidFill>
                  <a:srgbClr val="9AA7B4"/>
                </a:solidFill>
                <a:latin typeface="Calibri"/>
              </a:rPr>
              <a:t>with no source behind it.</a:t>
            </a:r>
          </a:p>
          <a:p>
            <a:pPr algn="l">
              <a:lnSpc>
                <a:spcPct val="108000"/>
              </a:lnSpc>
              <a:spcBef>
                <a:spcPts val="0"/>
              </a:spcBef>
              <a:spcAft>
                <a:spcPts val="400"/>
              </a:spcAft>
            </a:pPr>
            <a:r>
              <a:rPr sz="1200" b="0" i="0">
                <a:solidFill>
                  <a:srgbClr val="9AA7B4"/>
                </a:solidFill>
                <a:latin typeface="Calibri"/>
              </a:rPr>
              <a:t>No VirusTotal verdict, no</a:t>
            </a:r>
          </a:p>
          <a:p>
            <a:pPr algn="l">
              <a:lnSpc>
                <a:spcPct val="108000"/>
              </a:lnSpc>
              <a:spcBef>
                <a:spcPts val="0"/>
              </a:spcBef>
              <a:spcAft>
                <a:spcPts val="400"/>
              </a:spcAft>
            </a:pPr>
            <a:r>
              <a:rPr sz="1200" b="0" i="0">
                <a:solidFill>
                  <a:srgbClr val="9AA7B4"/>
                </a:solidFill>
                <a:latin typeface="Calibri"/>
              </a:rPr>
              <a:t>Shodan exposure, no real</a:t>
            </a:r>
          </a:p>
          <a:p>
            <a:pPr algn="l">
              <a:lnSpc>
                <a:spcPct val="108000"/>
              </a:lnSpc>
              <a:spcBef>
                <a:spcPts val="0"/>
              </a:spcBef>
              <a:spcAft>
                <a:spcPts val="400"/>
              </a:spcAft>
            </a:pPr>
            <a:r>
              <a:rPr sz="1200" b="0" i="0">
                <a:solidFill>
                  <a:srgbClr val="9AA7B4"/>
                </a:solidFill>
                <a:latin typeface="Calibri"/>
              </a:rPr>
              <a:t>reputation lookup you can cite.</a:t>
            </a:r>
          </a:p>
        </p:txBody>
      </p:sp>
      <p:sp>
        <p:nvSpPr>
          <p:cNvPr id="15" name="Rounded Rectangle 14"/>
          <p:cNvSpPr/>
          <p:nvPr/>
        </p:nvSpPr>
        <p:spPr>
          <a:xfrm>
            <a:off x="8193023" y="2011680"/>
            <a:ext cx="3611880" cy="33832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3023" y="2011680"/>
            <a:ext cx="3611880" cy="9144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21624" y="2240280"/>
            <a:ext cx="3200400" cy="64008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50" b="1" i="0">
                <a:solidFill>
                  <a:srgbClr val="E6EDF3"/>
                </a:solidFill>
                <a:latin typeface="Calibri"/>
              </a:rPr>
              <a:t>Can't be trusted to act</a:t>
            </a:r>
          </a:p>
        </p:txBody>
      </p:sp>
      <p:sp>
        <p:nvSpPr>
          <p:cNvPr id="18" name="TextBox 17"/>
          <p:cNvSpPr txBox="1"/>
          <p:nvPr/>
        </p:nvSpPr>
        <p:spPr>
          <a:xfrm>
            <a:off x="8421624" y="3063240"/>
            <a:ext cx="3200400" cy="2194560"/>
          </a:xfrm>
          <a:prstGeom prst="rect">
            <a:avLst/>
          </a:prstGeom>
          <a:noFill/>
        </p:spPr>
        <p:txBody>
          <a:bodyPr wrap="square" anchor="t" lIns="25400" rIns="25400" tIns="25400" bIns="25400">
            <a:spAutoFit/>
          </a:bodyPr>
          <a:lstStyle/>
          <a:p>
            <a:pPr algn="l">
              <a:lnSpc>
                <a:spcPct val="108000"/>
              </a:lnSpc>
              <a:spcBef>
                <a:spcPts val="0"/>
              </a:spcBef>
              <a:spcAft>
                <a:spcPts val="400"/>
              </a:spcAft>
            </a:pPr>
            <a:r>
              <a:rPr sz="1200" b="0" i="0">
                <a:solidFill>
                  <a:srgbClr val="9AA7B4"/>
                </a:solidFill>
                <a:latin typeface="Calibri"/>
              </a:rPr>
              <a:t>Containment means blocking,</a:t>
            </a:r>
          </a:p>
          <a:p>
            <a:pPr algn="l">
              <a:lnSpc>
                <a:spcPct val="108000"/>
              </a:lnSpc>
              <a:spcBef>
                <a:spcPts val="0"/>
              </a:spcBef>
              <a:spcAft>
                <a:spcPts val="400"/>
              </a:spcAft>
            </a:pPr>
            <a:r>
              <a:rPr sz="1200" b="0" i="0">
                <a:solidFill>
                  <a:srgbClr val="9AA7B4"/>
                </a:solidFill>
                <a:latin typeface="Calibri"/>
              </a:rPr>
              <a:t>isolating, disabling — real</a:t>
            </a:r>
          </a:p>
          <a:p>
            <a:pPr algn="l">
              <a:lnSpc>
                <a:spcPct val="108000"/>
              </a:lnSpc>
              <a:spcBef>
                <a:spcPts val="0"/>
              </a:spcBef>
              <a:spcAft>
                <a:spcPts val="400"/>
              </a:spcAft>
            </a:pPr>
            <a:r>
              <a:rPr sz="1200" b="0" i="0">
                <a:solidFill>
                  <a:srgbClr val="9AA7B4"/>
                </a:solidFill>
                <a:latin typeface="Calibri"/>
              </a:rPr>
              <a:t>state changes. A chatbot that</a:t>
            </a:r>
          </a:p>
          <a:p>
            <a:pPr algn="l">
              <a:lnSpc>
                <a:spcPct val="108000"/>
              </a:lnSpc>
              <a:spcBef>
                <a:spcPts val="0"/>
              </a:spcBef>
              <a:spcAft>
                <a:spcPts val="400"/>
              </a:spcAft>
            </a:pPr>
            <a:r>
              <a:rPr sz="1200" b="0" i="0">
                <a:solidFill>
                  <a:srgbClr val="9AA7B4"/>
                </a:solidFill>
                <a:latin typeface="Calibri"/>
              </a:rPr>
              <a:t>might hallucinate must never</a:t>
            </a:r>
          </a:p>
          <a:p>
            <a:pPr algn="l">
              <a:lnSpc>
                <a:spcPct val="108000"/>
              </a:lnSpc>
              <a:spcBef>
                <a:spcPts val="0"/>
              </a:spcBef>
              <a:spcAft>
                <a:spcPts val="400"/>
              </a:spcAft>
            </a:pPr>
            <a:r>
              <a:rPr sz="1200" b="0" i="0">
                <a:solidFill>
                  <a:srgbClr val="9AA7B4"/>
                </a:solidFill>
                <a:latin typeface="Calibri"/>
              </a:rPr>
              <a:t>fire those unsupervised.</a:t>
            </a:r>
          </a:p>
        </p:txBody>
      </p:sp>
      <p:sp>
        <p:nvSpPr>
          <p:cNvPr id="19" name="TextBox 18"/>
          <p:cNvSpPr txBox="1"/>
          <p:nvPr/>
        </p:nvSpPr>
        <p:spPr>
          <a:xfrm>
            <a:off x="548640" y="5715000"/>
            <a:ext cx="11155680" cy="5486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The fix isn't a smarter summary. </a:t>
            </a:r>
            <a:r>
              <a:rPr sz="1600" b="1" i="0">
                <a:solidFill>
                  <a:srgbClr val="3FD99B"/>
                </a:solidFill>
                <a:latin typeface="Calibri"/>
              </a:rPr>
              <a:t>It's wiring the model to the platform — and gating what it can do.</a:t>
            </a:r>
          </a:p>
        </p:txBody>
      </p:sp>
      <p:sp>
        <p:nvSpPr>
          <p:cNvPr id="20" name="TextBox 19"/>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21" name="TextBox 20"/>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WHAT THE CONNECTOR IS</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It runs the investigation, not its mouth</a:t>
            </a:r>
          </a:p>
        </p:txBody>
      </p:sp>
      <p:sp>
        <p:nvSpPr>
          <p:cNvPr id="6" name="Rounded Rectangle 5"/>
          <p:cNvSpPr/>
          <p:nvPr/>
        </p:nvSpPr>
        <p:spPr>
          <a:xfrm>
            <a:off x="548640" y="1965960"/>
            <a:ext cx="11064240" cy="141732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94560"/>
            <a:ext cx="10515600" cy="1051560"/>
          </a:xfrm>
          <a:prstGeom prst="rect">
            <a:avLst/>
          </a:prstGeom>
          <a:noFill/>
        </p:spPr>
        <p:txBody>
          <a:bodyPr wrap="square" anchor="t" lIns="25400" rIns="25400" tIns="25400" bIns="25400">
            <a:spAutoFit/>
          </a:bodyPr>
          <a:lstStyle/>
          <a:p>
            <a:pPr algn="l">
              <a:lnSpc>
                <a:spcPct val="115000"/>
              </a:lnSpc>
              <a:spcBef>
                <a:spcPts val="0"/>
              </a:spcBef>
              <a:spcAft>
                <a:spcPts val="400"/>
              </a:spcAft>
            </a:pPr>
            <a:r>
              <a:rPr sz="1800" b="0" i="0">
                <a:solidFill>
                  <a:srgbClr val="E6EDF3"/>
                </a:solidFill>
                <a:latin typeface="Calibri"/>
              </a:rPr>
              <a:t>A reasoning loop </a:t>
            </a:r>
            <a:r>
              <a:rPr sz="1800" b="1" i="0">
                <a:solidFill>
                  <a:srgbClr val="4C9AFF"/>
                </a:solidFill>
                <a:latin typeface="Calibri"/>
              </a:rPr>
              <a:t>wired to your stack</a:t>
            </a:r>
            <a:r>
              <a:rPr sz="1800" b="0" i="0">
                <a:solidFill>
                  <a:srgbClr val="E6EDF3"/>
                </a:solidFill>
                <a:latin typeface="Calibri"/>
              </a:rPr>
              <a:t>: it pulls the triggering events from FortiSIEM / FortiAnalyzer, </a:t>
            </a:r>
            <a:r>
              <a:rPr sz="1800" b="1" i="0">
                <a:solidFill>
                  <a:srgbClr val="3FD99B"/>
                </a:solidFill>
                <a:latin typeface="Calibri"/>
              </a:rPr>
              <a:t>enriches every indicator</a:t>
            </a:r>
            <a:r>
              <a:rPr sz="1800" b="0" i="0">
                <a:solidFill>
                  <a:srgbClr val="E6EDF3"/>
                </a:solidFill>
                <a:latin typeface="Calibri"/>
              </a:rPr>
              <a:t> against real threat-intel sources, and </a:t>
            </a:r>
            <a:r>
              <a:rPr sz="1800" b="1" i="0">
                <a:solidFill>
                  <a:srgbClr val="FFB454"/>
                </a:solidFill>
                <a:latin typeface="Calibri"/>
              </a:rPr>
              <a:t>stages containment for approval</a:t>
            </a:r>
            <a:r>
              <a:rPr sz="1800" b="0" i="0">
                <a:solidFill>
                  <a:srgbClr val="E6EDF3"/>
                </a:solidFill>
                <a:latin typeface="Calibri"/>
              </a:rPr>
              <a:t> — every action tier-gated, logged, and reachable even on-prem.</a:t>
            </a:r>
          </a:p>
        </p:txBody>
      </p:sp>
      <p:sp>
        <p:nvSpPr>
          <p:cNvPr id="8" name="Rounded Rectangle 7"/>
          <p:cNvSpPr/>
          <p:nvPr/>
        </p:nvSpPr>
        <p:spPr>
          <a:xfrm>
            <a:off x="548640" y="3703320"/>
            <a:ext cx="5212080" cy="566928"/>
          </a:xfrm>
          <a:prstGeom prst="round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49039"/>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0" i="0">
                <a:solidFill>
                  <a:srgbClr val="9AA7B4"/>
                </a:solidFill>
                <a:latin typeface="Calibri"/>
              </a:rPr>
              <a:t>✗  Restates the alert</a:t>
            </a:r>
          </a:p>
        </p:txBody>
      </p:sp>
      <p:sp>
        <p:nvSpPr>
          <p:cNvPr id="10" name="TextBox 9"/>
          <p:cNvSpPr txBox="1"/>
          <p:nvPr/>
        </p:nvSpPr>
        <p:spPr>
          <a:xfrm>
            <a:off x="5897880" y="3749039"/>
            <a:ext cx="4572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600" b="1" i="0">
                <a:solidFill>
                  <a:srgbClr val="4C9AFF"/>
                </a:solidFill>
                <a:latin typeface="Calibri"/>
              </a:rPr>
              <a:t>→</a:t>
            </a:r>
          </a:p>
        </p:txBody>
      </p:sp>
      <p:sp>
        <p:nvSpPr>
          <p:cNvPr id="11" name="Rounded Rectangle 10"/>
          <p:cNvSpPr/>
          <p:nvPr/>
        </p:nvSpPr>
        <p:spPr>
          <a:xfrm>
            <a:off x="6400800" y="3703320"/>
            <a:ext cx="5212080" cy="566928"/>
          </a:xfrm>
          <a:prstGeom prst="roundRect">
            <a:avLst/>
          </a:prstGeom>
          <a:solidFill>
            <a:srgbClr val="161C26"/>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3749039"/>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1" i="0">
                <a:solidFill>
                  <a:srgbClr val="E6EDF3"/>
                </a:solidFill>
                <a:latin typeface="Calibri"/>
              </a:rPr>
              <a:t>✓  Pulls the events that triggered it</a:t>
            </a:r>
          </a:p>
        </p:txBody>
      </p:sp>
      <p:sp>
        <p:nvSpPr>
          <p:cNvPr id="13" name="Rounded Rectangle 12"/>
          <p:cNvSpPr/>
          <p:nvPr/>
        </p:nvSpPr>
        <p:spPr>
          <a:xfrm>
            <a:off x="548640" y="4343400"/>
            <a:ext cx="5212080" cy="566928"/>
          </a:xfrm>
          <a:prstGeom prst="round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389120"/>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0" i="0">
                <a:solidFill>
                  <a:srgbClr val="9AA7B4"/>
                </a:solidFill>
                <a:latin typeface="Calibri"/>
              </a:rPr>
              <a:t>✗  “Probably malicious”</a:t>
            </a:r>
          </a:p>
        </p:txBody>
      </p:sp>
      <p:sp>
        <p:nvSpPr>
          <p:cNvPr id="15" name="TextBox 14"/>
          <p:cNvSpPr txBox="1"/>
          <p:nvPr/>
        </p:nvSpPr>
        <p:spPr>
          <a:xfrm>
            <a:off x="5897880" y="4389120"/>
            <a:ext cx="4572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600" b="1" i="0">
                <a:solidFill>
                  <a:srgbClr val="4C9AFF"/>
                </a:solidFill>
                <a:latin typeface="Calibri"/>
              </a:rPr>
              <a:t>→</a:t>
            </a:r>
          </a:p>
        </p:txBody>
      </p:sp>
      <p:sp>
        <p:nvSpPr>
          <p:cNvPr id="16" name="Rounded Rectangle 15"/>
          <p:cNvSpPr/>
          <p:nvPr/>
        </p:nvSpPr>
        <p:spPr>
          <a:xfrm>
            <a:off x="6400800" y="4343400"/>
            <a:ext cx="5212080" cy="566928"/>
          </a:xfrm>
          <a:prstGeom prst="roundRect">
            <a:avLst/>
          </a:prstGeom>
          <a:solidFill>
            <a:srgbClr val="161C26"/>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4389120"/>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1" i="0">
                <a:solidFill>
                  <a:srgbClr val="E6EDF3"/>
                </a:solidFill>
                <a:latin typeface="Calibri"/>
              </a:rPr>
              <a:t>✓  Cited verdicts from VT / Shodan / FortiGuard</a:t>
            </a:r>
          </a:p>
        </p:txBody>
      </p:sp>
      <p:sp>
        <p:nvSpPr>
          <p:cNvPr id="18" name="Rounded Rectangle 17"/>
          <p:cNvSpPr/>
          <p:nvPr/>
        </p:nvSpPr>
        <p:spPr>
          <a:xfrm>
            <a:off x="548640" y="4983480"/>
            <a:ext cx="5212080" cy="566928"/>
          </a:xfrm>
          <a:prstGeom prst="round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029200"/>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0" i="0">
                <a:solidFill>
                  <a:srgbClr val="9AA7B4"/>
                </a:solidFill>
                <a:latin typeface="Calibri"/>
              </a:rPr>
              <a:t>✗  Suggests you go block it</a:t>
            </a:r>
          </a:p>
        </p:txBody>
      </p:sp>
      <p:sp>
        <p:nvSpPr>
          <p:cNvPr id="20" name="TextBox 19"/>
          <p:cNvSpPr txBox="1"/>
          <p:nvPr/>
        </p:nvSpPr>
        <p:spPr>
          <a:xfrm>
            <a:off x="5897880" y="5029200"/>
            <a:ext cx="4572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600" b="1" i="0">
                <a:solidFill>
                  <a:srgbClr val="4C9AFF"/>
                </a:solidFill>
                <a:latin typeface="Calibri"/>
              </a:rPr>
              <a:t>→</a:t>
            </a:r>
          </a:p>
        </p:txBody>
      </p:sp>
      <p:sp>
        <p:nvSpPr>
          <p:cNvPr id="21" name="Rounded Rectangle 20"/>
          <p:cNvSpPr/>
          <p:nvPr/>
        </p:nvSpPr>
        <p:spPr>
          <a:xfrm>
            <a:off x="6400800" y="4983480"/>
            <a:ext cx="5212080" cy="566928"/>
          </a:xfrm>
          <a:prstGeom prst="roundRect">
            <a:avLst/>
          </a:prstGeom>
          <a:solidFill>
            <a:srgbClr val="161C26"/>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029200"/>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1" i="0">
                <a:solidFill>
                  <a:srgbClr val="E6EDF3"/>
                </a:solidFill>
                <a:latin typeface="Calibri"/>
              </a:rPr>
              <a:t>✓  Stages the block; analyst approves; it runs</a:t>
            </a:r>
          </a:p>
        </p:txBody>
      </p:sp>
      <p:sp>
        <p:nvSpPr>
          <p:cNvPr id="23" name="Rounded Rectangle 22"/>
          <p:cNvSpPr/>
          <p:nvPr/>
        </p:nvSpPr>
        <p:spPr>
          <a:xfrm>
            <a:off x="548640" y="5623560"/>
            <a:ext cx="5212080" cy="566928"/>
          </a:xfrm>
          <a:prstGeom prst="round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0" i="0">
                <a:solidFill>
                  <a:srgbClr val="9AA7B4"/>
                </a:solidFill>
                <a:latin typeface="Calibri"/>
              </a:rPr>
              <a:t>✗  Leaves you where you started</a:t>
            </a:r>
          </a:p>
        </p:txBody>
      </p:sp>
      <p:sp>
        <p:nvSpPr>
          <p:cNvPr id="25" name="TextBox 24"/>
          <p:cNvSpPr txBox="1"/>
          <p:nvPr/>
        </p:nvSpPr>
        <p:spPr>
          <a:xfrm>
            <a:off x="5897880" y="5669280"/>
            <a:ext cx="4572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600" b="1" i="0">
                <a:solidFill>
                  <a:srgbClr val="4C9AFF"/>
                </a:solidFill>
                <a:latin typeface="Calibri"/>
              </a:rPr>
              <a:t>→</a:t>
            </a:r>
          </a:p>
        </p:txBody>
      </p:sp>
      <p:sp>
        <p:nvSpPr>
          <p:cNvPr id="26" name="Rounded Rectangle 25"/>
          <p:cNvSpPr/>
          <p:nvPr/>
        </p:nvSpPr>
        <p:spPr>
          <a:xfrm>
            <a:off x="6400800" y="5623560"/>
            <a:ext cx="5212080" cy="566928"/>
          </a:xfrm>
          <a:prstGeom prst="roundRect">
            <a:avLst/>
          </a:prstGeom>
          <a:solidFill>
            <a:srgbClr val="161C26"/>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5669280"/>
            <a:ext cx="493776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00" b="1" i="0">
                <a:solidFill>
                  <a:srgbClr val="E6EDF3"/>
                </a:solidFill>
                <a:latin typeface="Calibri"/>
              </a:rPr>
              <a:t>✓  Bottles the run into a reusable playbook</a:t>
            </a:r>
          </a:p>
        </p:txBody>
      </p:sp>
      <p:sp>
        <p:nvSpPr>
          <p:cNvPr id="28" name="TextBox 27"/>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29" name="TextBox 28"/>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THE CONNECTOR IS THE ENGINE</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The widget is a window. The connector does the work.</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All intelligence, tools, gating and trace-capture live in the in-platform connector</a:t>
            </a:r>
          </a:p>
        </p:txBody>
      </p:sp>
      <p:sp>
        <p:nvSpPr>
          <p:cNvPr id="7" name="Rounded Rectangle 6"/>
          <p:cNvSpPr/>
          <p:nvPr/>
        </p:nvSpPr>
        <p:spPr>
          <a:xfrm>
            <a:off x="548640" y="2057400"/>
            <a:ext cx="3383280" cy="1371600"/>
          </a:xfrm>
          <a:prstGeom prst="roundRect">
            <a:avLst/>
          </a:prstGeom>
          <a:solidFill>
            <a:srgbClr val="161C26"/>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310896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E6EDF3"/>
                </a:solidFill>
                <a:latin typeface="Calibri"/>
              </a:rPr>
              <a:t>AngularJS widget</a:t>
            </a:r>
          </a:p>
        </p:txBody>
      </p:sp>
      <p:sp>
        <p:nvSpPr>
          <p:cNvPr id="9" name="TextBox 8"/>
          <p:cNvSpPr txBox="1"/>
          <p:nvPr/>
        </p:nvSpPr>
        <p:spPr>
          <a:xfrm>
            <a:off x="731520" y="2578608"/>
            <a:ext cx="3108960" cy="82296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50" b="0" i="0">
                <a:solidFill>
                  <a:srgbClr val="9AA7B4"/>
                </a:solidFill>
                <a:latin typeface="Calibri"/>
              </a:rPr>
              <a:t>A window onto the agent. Renders cards, halts for approval, resumes.</a:t>
            </a:r>
          </a:p>
        </p:txBody>
      </p:sp>
      <p:sp>
        <p:nvSpPr>
          <p:cNvPr id="10" name="TextBox 9"/>
          <p:cNvSpPr txBox="1"/>
          <p:nvPr/>
        </p:nvSpPr>
        <p:spPr>
          <a:xfrm>
            <a:off x="3977639" y="2606040"/>
            <a:ext cx="457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000" b="1" i="0">
                <a:solidFill>
                  <a:srgbClr val="9AA7B4"/>
                </a:solidFill>
                <a:latin typeface="Calibri"/>
              </a:rPr>
              <a:t>→</a:t>
            </a:r>
          </a:p>
        </p:txBody>
      </p:sp>
      <p:sp>
        <p:nvSpPr>
          <p:cNvPr id="11" name="Rounded Rectangle 10"/>
          <p:cNvSpPr/>
          <p:nvPr/>
        </p:nvSpPr>
        <p:spPr>
          <a:xfrm>
            <a:off x="4434840" y="2011680"/>
            <a:ext cx="3383280" cy="1463040"/>
          </a:xfrm>
          <a:prstGeom prst="roundRect">
            <a:avLst/>
          </a:prstGeom>
          <a:solidFill>
            <a:srgbClr val="161C26"/>
          </a:solidFill>
          <a:ln w="2222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130552"/>
            <a:ext cx="310896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3FD99B"/>
                </a:solidFill>
                <a:latin typeface="Calibri"/>
              </a:rPr>
              <a:t>The connector (agent)</a:t>
            </a:r>
          </a:p>
        </p:txBody>
      </p:sp>
      <p:sp>
        <p:nvSpPr>
          <p:cNvPr id="13" name="TextBox 12"/>
          <p:cNvSpPr txBox="1"/>
          <p:nvPr/>
        </p:nvSpPr>
        <p:spPr>
          <a:xfrm>
            <a:off x="4617720" y="2505456"/>
            <a:ext cx="3108960" cy="91440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50" b="0" i="0">
                <a:solidFill>
                  <a:srgbClr val="9AA7B4"/>
                </a:solidFill>
                <a:latin typeface="Calibri"/>
              </a:rPr>
              <a:t>Tier-gated tool loop · HITL durability · remote execution · trace capture.</a:t>
            </a:r>
          </a:p>
        </p:txBody>
      </p:sp>
      <p:sp>
        <p:nvSpPr>
          <p:cNvPr id="14" name="TextBox 13"/>
          <p:cNvSpPr txBox="1"/>
          <p:nvPr/>
        </p:nvSpPr>
        <p:spPr>
          <a:xfrm>
            <a:off x="7863840" y="2606040"/>
            <a:ext cx="457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000" b="1" i="0">
                <a:solidFill>
                  <a:srgbClr val="9AA7B4"/>
                </a:solidFill>
                <a:latin typeface="Calibri"/>
              </a:rPr>
              <a:t>→</a:t>
            </a:r>
          </a:p>
        </p:txBody>
      </p:sp>
      <p:sp>
        <p:nvSpPr>
          <p:cNvPr id="15" name="Rounded Rectangle 14"/>
          <p:cNvSpPr/>
          <p:nvPr/>
        </p:nvSpPr>
        <p:spPr>
          <a:xfrm>
            <a:off x="8321040" y="2057400"/>
            <a:ext cx="3291840" cy="1371600"/>
          </a:xfrm>
          <a:prstGeom prst="roundRect">
            <a:avLst/>
          </a:prstGeom>
          <a:solidFill>
            <a:srgbClr val="161C26"/>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2194560"/>
            <a:ext cx="292608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E6EDF3"/>
                </a:solidFill>
                <a:latin typeface="Calibri"/>
              </a:rPr>
              <a:t>Your stack</a:t>
            </a:r>
          </a:p>
        </p:txBody>
      </p:sp>
      <p:sp>
        <p:nvSpPr>
          <p:cNvPr id="17" name="TextBox 16"/>
          <p:cNvSpPr txBox="1"/>
          <p:nvPr/>
        </p:nvSpPr>
        <p:spPr>
          <a:xfrm>
            <a:off x="8503920" y="2578608"/>
            <a:ext cx="2926080" cy="82296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50" b="0" i="0">
                <a:solidFill>
                  <a:srgbClr val="9AA7B4"/>
                </a:solidFill>
                <a:latin typeface="Calibri"/>
              </a:rPr>
              <a:t>FortiSIEM · FortiAnalyzer · EDR · firewall · 3rd-party SIEM · TI.</a:t>
            </a:r>
          </a:p>
        </p:txBody>
      </p:sp>
      <p:sp>
        <p:nvSpPr>
          <p:cNvPr id="18" name="Rounded Rectangle 17"/>
          <p:cNvSpPr/>
          <p:nvPr/>
        </p:nvSpPr>
        <p:spPr>
          <a:xfrm>
            <a:off x="548640" y="3794760"/>
            <a:ext cx="11064240" cy="2240280"/>
          </a:xfrm>
          <a:prstGeom prst="roundRect">
            <a:avLst/>
          </a:prstGeom>
          <a:solidFill>
            <a:srgbClr val="1E2633"/>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105156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What the connector can reach — by live discovery, never guessed</a:t>
            </a:r>
          </a:p>
        </p:txBody>
      </p:sp>
      <p:sp>
        <p:nvSpPr>
          <p:cNvPr id="20" name="Rounded Rectangle 19"/>
          <p:cNvSpPr/>
          <p:nvPr/>
        </p:nvSpPr>
        <p:spPr>
          <a:xfrm>
            <a:off x="777240" y="4389120"/>
            <a:ext cx="347472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462272"/>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B48EFF"/>
                </a:solidFill>
                <a:latin typeface="Calibri"/>
              </a:rPr>
              <a:t>FortiSIEM</a:t>
            </a:r>
          </a:p>
        </p:txBody>
      </p:sp>
      <p:sp>
        <p:nvSpPr>
          <p:cNvPr id="22" name="TextBox 21"/>
          <p:cNvSpPr txBox="1"/>
          <p:nvPr/>
        </p:nvSpPr>
        <p:spPr>
          <a:xfrm>
            <a:off x="941832" y="4754880"/>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00" b="0" i="0">
                <a:solidFill>
                  <a:srgbClr val="9AA7B4"/>
                </a:solidFill>
                <a:latin typeface="Consolas"/>
              </a:rPr>
              <a:t>siem_search_ip / host / user · events_for_incident</a:t>
            </a:r>
          </a:p>
        </p:txBody>
      </p:sp>
      <p:sp>
        <p:nvSpPr>
          <p:cNvPr id="23" name="Rounded Rectangle 22"/>
          <p:cNvSpPr/>
          <p:nvPr/>
        </p:nvSpPr>
        <p:spPr>
          <a:xfrm>
            <a:off x="4389120" y="4389120"/>
            <a:ext cx="347472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4462272"/>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B48EFF"/>
                </a:solidFill>
                <a:latin typeface="Calibri"/>
              </a:rPr>
              <a:t>FortiAnalyzer</a:t>
            </a:r>
          </a:p>
        </p:txBody>
      </p:sp>
      <p:sp>
        <p:nvSpPr>
          <p:cNvPr id="25" name="TextBox 24"/>
          <p:cNvSpPr txBox="1"/>
          <p:nvPr/>
        </p:nvSpPr>
        <p:spPr>
          <a:xfrm>
            <a:off x="4553712" y="4754880"/>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00" b="0" i="0">
                <a:solidFill>
                  <a:srgbClr val="9AA7B4"/>
                </a:solidFill>
                <a:latin typeface="Consolas"/>
              </a:rPr>
              <a:t>faz_get_alerts · faz_search_ip · faz_raw_query</a:t>
            </a:r>
          </a:p>
        </p:txBody>
      </p:sp>
      <p:sp>
        <p:nvSpPr>
          <p:cNvPr id="26" name="Rounded Rectangle 25"/>
          <p:cNvSpPr/>
          <p:nvPr/>
        </p:nvSpPr>
        <p:spPr>
          <a:xfrm>
            <a:off x="8001000" y="4389120"/>
            <a:ext cx="347472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65592" y="4462272"/>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3FD99B"/>
                </a:solidFill>
                <a:latin typeface="Calibri"/>
              </a:rPr>
              <a:t>Threat intel</a:t>
            </a:r>
          </a:p>
        </p:txBody>
      </p:sp>
      <p:sp>
        <p:nvSpPr>
          <p:cNvPr id="28" name="TextBox 27"/>
          <p:cNvSpPr txBox="1"/>
          <p:nvPr/>
        </p:nvSpPr>
        <p:spPr>
          <a:xfrm>
            <a:off x="8165592" y="4754880"/>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00" b="0" i="0">
                <a:solidFill>
                  <a:srgbClr val="9AA7B4"/>
                </a:solidFill>
                <a:latin typeface="Consolas"/>
              </a:rPr>
              <a:t>VirusTotal · Shodan · AbuseIPDB · FortiGuard · URLScan</a:t>
            </a:r>
          </a:p>
        </p:txBody>
      </p:sp>
      <p:sp>
        <p:nvSpPr>
          <p:cNvPr id="29" name="Rounded Rectangle 28"/>
          <p:cNvSpPr/>
          <p:nvPr/>
        </p:nvSpPr>
        <p:spPr>
          <a:xfrm>
            <a:off x="777240" y="5166359"/>
            <a:ext cx="347472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5239512"/>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FFB454"/>
                </a:solidFill>
                <a:latin typeface="Calibri"/>
              </a:rPr>
              <a:t>Response</a:t>
            </a:r>
          </a:p>
        </p:txBody>
      </p:sp>
      <p:sp>
        <p:nvSpPr>
          <p:cNvPr id="31" name="TextBox 30"/>
          <p:cNvSpPr txBox="1"/>
          <p:nvPr/>
        </p:nvSpPr>
        <p:spPr>
          <a:xfrm>
            <a:off x="941832" y="5532120"/>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00" b="0" i="0">
                <a:solidFill>
                  <a:srgbClr val="9AA7B4"/>
                </a:solidFill>
                <a:latin typeface="Consolas"/>
              </a:rPr>
              <a:t>firewall block · EDR isolate · identity disable</a:t>
            </a:r>
          </a:p>
        </p:txBody>
      </p:sp>
      <p:sp>
        <p:nvSpPr>
          <p:cNvPr id="32" name="Rounded Rectangle 31"/>
          <p:cNvSpPr/>
          <p:nvPr/>
        </p:nvSpPr>
        <p:spPr>
          <a:xfrm>
            <a:off x="4389120" y="5166359"/>
            <a:ext cx="347472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3712" y="5239512"/>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4C9AFF"/>
                </a:solidFill>
                <a:latin typeface="Calibri"/>
              </a:rPr>
              <a:t>FortiSOAR data</a:t>
            </a:r>
          </a:p>
        </p:txBody>
      </p:sp>
      <p:sp>
        <p:nvSpPr>
          <p:cNvPr id="34" name="TextBox 33"/>
          <p:cNvSpPr txBox="1"/>
          <p:nvPr/>
        </p:nvSpPr>
        <p:spPr>
          <a:xfrm>
            <a:off x="4553712" y="5532120"/>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00" b="0" i="0">
                <a:solidFill>
                  <a:srgbClr val="9AA7B4"/>
                </a:solidFill>
                <a:latin typeface="Consolas"/>
              </a:rPr>
              <a:t>get_record (curated) · module search</a:t>
            </a:r>
          </a:p>
        </p:txBody>
      </p:sp>
      <p:sp>
        <p:nvSpPr>
          <p:cNvPr id="35" name="Rounded Rectangle 34"/>
          <p:cNvSpPr/>
          <p:nvPr/>
        </p:nvSpPr>
        <p:spPr>
          <a:xfrm>
            <a:off x="8001000" y="5166359"/>
            <a:ext cx="347472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65592" y="5239512"/>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9AA7B4"/>
                </a:solidFill>
                <a:latin typeface="Calibri"/>
              </a:rPr>
              <a:t>714+ connectors</a:t>
            </a:r>
          </a:p>
        </p:txBody>
      </p:sp>
      <p:sp>
        <p:nvSpPr>
          <p:cNvPr id="37" name="TextBox 36"/>
          <p:cNvSpPr txBox="1"/>
          <p:nvPr/>
        </p:nvSpPr>
        <p:spPr>
          <a:xfrm>
            <a:off x="8165592" y="5532120"/>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00" b="0" i="0">
                <a:solidFill>
                  <a:srgbClr val="9AA7B4"/>
                </a:solidFill>
                <a:latin typeface="Consolas"/>
              </a:rPr>
              <a:t>any 3rd-party tool — find_connector / find_operation</a:t>
            </a:r>
          </a:p>
        </p:txBody>
      </p:sp>
      <p:sp>
        <p:nvSpPr>
          <p:cNvPr id="38" name="TextBox 37"/>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39" name="TextBox 38"/>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THE INVESTIGATION LOOP</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One alert → verdict → response → reusable playbook</a:t>
            </a:r>
          </a:p>
        </p:txBody>
      </p:sp>
      <p:sp>
        <p:nvSpPr>
          <p:cNvPr id="6" name="Rounded Rectangle 5"/>
          <p:cNvSpPr/>
          <p:nvPr/>
        </p:nvSpPr>
        <p:spPr>
          <a:xfrm>
            <a:off x="548640" y="2468880"/>
            <a:ext cx="1691640" cy="1463040"/>
          </a:xfrm>
          <a:prstGeom prst="roundRect">
            <a:avLst/>
          </a:prstGeom>
          <a:solidFill>
            <a:srgbClr val="161C26"/>
          </a:solidFill>
          <a:ln w="15875">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468880"/>
            <a:ext cx="1691640" cy="9144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70048"/>
            <a:ext cx="14630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1. Ground</a:t>
            </a:r>
          </a:p>
        </p:txBody>
      </p:sp>
      <p:sp>
        <p:nvSpPr>
          <p:cNvPr id="9" name="TextBox 8"/>
          <p:cNvSpPr txBox="1"/>
          <p:nvPr/>
        </p:nvSpPr>
        <p:spPr>
          <a:xfrm>
            <a:off x="658368" y="3035808"/>
            <a:ext cx="1481328" cy="86868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00" b="0" i="0">
                <a:solidFill>
                  <a:srgbClr val="9AA7B4"/>
                </a:solidFill>
                <a:latin typeface="Calibri"/>
              </a:rPr>
              <a:t>normalize the alert; pull triggering events</a:t>
            </a:r>
          </a:p>
        </p:txBody>
      </p:sp>
      <p:sp>
        <p:nvSpPr>
          <p:cNvPr id="10" name="TextBox 9"/>
          <p:cNvSpPr txBox="1"/>
          <p:nvPr/>
        </p:nvSpPr>
        <p:spPr>
          <a:xfrm>
            <a:off x="2212848" y="2907792"/>
            <a:ext cx="292608"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9AA7B4"/>
                </a:solidFill>
                <a:latin typeface="Calibri"/>
              </a:rPr>
              <a:t>→</a:t>
            </a:r>
          </a:p>
        </p:txBody>
      </p:sp>
      <p:sp>
        <p:nvSpPr>
          <p:cNvPr id="11" name="Rounded Rectangle 10"/>
          <p:cNvSpPr/>
          <p:nvPr/>
        </p:nvSpPr>
        <p:spPr>
          <a:xfrm>
            <a:off x="2414016" y="2468880"/>
            <a:ext cx="1691640" cy="1463040"/>
          </a:xfrm>
          <a:prstGeom prst="roundRect">
            <a:avLst/>
          </a:prstGeom>
          <a:solidFill>
            <a:srgbClr val="161C26"/>
          </a:solidFill>
          <a:ln w="15875">
            <a:solidFill>
              <a:srgbClr val="B4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4016" y="2468880"/>
            <a:ext cx="1691640" cy="91440"/>
          </a:xfrm>
          <a:prstGeom prst="rect">
            <a:avLst/>
          </a:prstGeom>
          <a:solidFill>
            <a:srgbClr val="B4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23744" y="2670048"/>
            <a:ext cx="14630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2. Hunt</a:t>
            </a:r>
          </a:p>
        </p:txBody>
      </p:sp>
      <p:sp>
        <p:nvSpPr>
          <p:cNvPr id="14" name="TextBox 13"/>
          <p:cNvSpPr txBox="1"/>
          <p:nvPr/>
        </p:nvSpPr>
        <p:spPr>
          <a:xfrm>
            <a:off x="2523744" y="3035808"/>
            <a:ext cx="1481328" cy="86868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00" b="0" i="0">
                <a:solidFill>
                  <a:srgbClr val="9AA7B4"/>
                </a:solidFill>
                <a:latin typeface="Calibri"/>
              </a:rPr>
              <a:t>pivot indicators across SIEM / FAZ</a:t>
            </a:r>
          </a:p>
        </p:txBody>
      </p:sp>
      <p:sp>
        <p:nvSpPr>
          <p:cNvPr id="15" name="TextBox 14"/>
          <p:cNvSpPr txBox="1"/>
          <p:nvPr/>
        </p:nvSpPr>
        <p:spPr>
          <a:xfrm>
            <a:off x="4078224" y="2907792"/>
            <a:ext cx="292608"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9AA7B4"/>
                </a:solidFill>
                <a:latin typeface="Calibri"/>
              </a:rPr>
              <a:t>→</a:t>
            </a:r>
          </a:p>
        </p:txBody>
      </p:sp>
      <p:sp>
        <p:nvSpPr>
          <p:cNvPr id="16" name="Rounded Rectangle 15"/>
          <p:cNvSpPr/>
          <p:nvPr/>
        </p:nvSpPr>
        <p:spPr>
          <a:xfrm>
            <a:off x="4279392" y="2468880"/>
            <a:ext cx="1691640" cy="1463040"/>
          </a:xfrm>
          <a:prstGeom prst="roundRect">
            <a:avLst/>
          </a:prstGeom>
          <a:solidFill>
            <a:srgbClr val="161C26"/>
          </a:solid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9392" y="2468880"/>
            <a:ext cx="1691640" cy="91440"/>
          </a:xfrm>
          <a:prstGeom prst="rect">
            <a:avLst/>
          </a:prstGeom>
          <a:solidFill>
            <a:srgbClr val="3FD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2670048"/>
            <a:ext cx="14630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3. Enrich</a:t>
            </a:r>
          </a:p>
        </p:txBody>
      </p:sp>
      <p:sp>
        <p:nvSpPr>
          <p:cNvPr id="19" name="TextBox 18"/>
          <p:cNvSpPr txBox="1"/>
          <p:nvPr/>
        </p:nvSpPr>
        <p:spPr>
          <a:xfrm>
            <a:off x="4389120" y="3035808"/>
            <a:ext cx="1481328" cy="86868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00" b="0" i="0">
                <a:solidFill>
                  <a:srgbClr val="9AA7B4"/>
                </a:solidFill>
                <a:latin typeface="Calibri"/>
              </a:rPr>
              <a:t>cited verdicts from TI sources</a:t>
            </a:r>
          </a:p>
        </p:txBody>
      </p:sp>
      <p:sp>
        <p:nvSpPr>
          <p:cNvPr id="20" name="TextBox 19"/>
          <p:cNvSpPr txBox="1"/>
          <p:nvPr/>
        </p:nvSpPr>
        <p:spPr>
          <a:xfrm>
            <a:off x="5943600" y="2907792"/>
            <a:ext cx="292608"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9AA7B4"/>
                </a:solidFill>
                <a:latin typeface="Calibri"/>
              </a:rPr>
              <a:t>→</a:t>
            </a:r>
          </a:p>
        </p:txBody>
      </p:sp>
      <p:sp>
        <p:nvSpPr>
          <p:cNvPr id="21" name="Rounded Rectangle 20"/>
          <p:cNvSpPr/>
          <p:nvPr/>
        </p:nvSpPr>
        <p:spPr>
          <a:xfrm>
            <a:off x="6144768" y="2468880"/>
            <a:ext cx="1691640" cy="1463040"/>
          </a:xfrm>
          <a:prstGeom prst="roundRect">
            <a:avLst/>
          </a:prstGeom>
          <a:solidFill>
            <a:srgbClr val="161C26"/>
          </a:solidFill>
          <a:ln w="15875">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2468880"/>
            <a:ext cx="1691640" cy="91440"/>
          </a:xfrm>
          <a:prstGeom prst="rect">
            <a:avLst/>
          </a:prstGeom>
          <a:solidFill>
            <a:srgbClr val="E6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4496" y="2670048"/>
            <a:ext cx="14630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4. Assess</a:t>
            </a:r>
          </a:p>
        </p:txBody>
      </p:sp>
      <p:sp>
        <p:nvSpPr>
          <p:cNvPr id="24" name="TextBox 23"/>
          <p:cNvSpPr txBox="1"/>
          <p:nvPr/>
        </p:nvSpPr>
        <p:spPr>
          <a:xfrm>
            <a:off x="6254496" y="3035808"/>
            <a:ext cx="1481328" cy="86868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00" b="0" i="0">
                <a:solidFill>
                  <a:srgbClr val="9AA7B4"/>
                </a:solidFill>
                <a:latin typeface="Calibri"/>
              </a:rPr>
              <a:t>forced verdict + next action</a:t>
            </a:r>
          </a:p>
        </p:txBody>
      </p:sp>
      <p:sp>
        <p:nvSpPr>
          <p:cNvPr id="25" name="TextBox 24"/>
          <p:cNvSpPr txBox="1"/>
          <p:nvPr/>
        </p:nvSpPr>
        <p:spPr>
          <a:xfrm>
            <a:off x="7808975" y="2907792"/>
            <a:ext cx="292608"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9AA7B4"/>
                </a:solidFill>
                <a:latin typeface="Calibri"/>
              </a:rPr>
              <a:t>→</a:t>
            </a:r>
          </a:p>
        </p:txBody>
      </p:sp>
      <p:sp>
        <p:nvSpPr>
          <p:cNvPr id="26" name="Rounded Rectangle 25"/>
          <p:cNvSpPr/>
          <p:nvPr/>
        </p:nvSpPr>
        <p:spPr>
          <a:xfrm>
            <a:off x="8010144" y="2468880"/>
            <a:ext cx="1691640" cy="1463040"/>
          </a:xfrm>
          <a:prstGeom prst="roundRect">
            <a:avLst/>
          </a:prstGeom>
          <a:solidFill>
            <a:srgbClr val="161C26"/>
          </a:solidFill>
          <a:ln w="15875">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0144" y="2468880"/>
            <a:ext cx="1691640" cy="9144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19871" y="2670048"/>
            <a:ext cx="14630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5. Contain</a:t>
            </a:r>
          </a:p>
        </p:txBody>
      </p:sp>
      <p:sp>
        <p:nvSpPr>
          <p:cNvPr id="29" name="TextBox 28"/>
          <p:cNvSpPr txBox="1"/>
          <p:nvPr/>
        </p:nvSpPr>
        <p:spPr>
          <a:xfrm>
            <a:off x="8119871" y="3035808"/>
            <a:ext cx="1481328" cy="86868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00" b="0" i="0">
                <a:solidFill>
                  <a:srgbClr val="9AA7B4"/>
                </a:solidFill>
                <a:latin typeface="Calibri"/>
              </a:rPr>
              <a:t>stage action · analyst approves</a:t>
            </a:r>
          </a:p>
        </p:txBody>
      </p:sp>
      <p:sp>
        <p:nvSpPr>
          <p:cNvPr id="30" name="TextBox 29"/>
          <p:cNvSpPr txBox="1"/>
          <p:nvPr/>
        </p:nvSpPr>
        <p:spPr>
          <a:xfrm>
            <a:off x="9674352" y="2907792"/>
            <a:ext cx="292608"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9AA7B4"/>
                </a:solidFill>
                <a:latin typeface="Calibri"/>
              </a:rPr>
              <a:t>→</a:t>
            </a:r>
          </a:p>
        </p:txBody>
      </p:sp>
      <p:sp>
        <p:nvSpPr>
          <p:cNvPr id="31" name="Rounded Rectangle 30"/>
          <p:cNvSpPr/>
          <p:nvPr/>
        </p:nvSpPr>
        <p:spPr>
          <a:xfrm>
            <a:off x="9875520" y="2468880"/>
            <a:ext cx="1691640" cy="1463040"/>
          </a:xfrm>
          <a:prstGeom prst="roundRect">
            <a:avLst/>
          </a:prstGeom>
          <a:solidFill>
            <a:srgbClr val="161C26"/>
          </a:solidFill>
          <a:ln w="15875">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75520" y="2468880"/>
            <a:ext cx="1691640" cy="9144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85248" y="2670048"/>
            <a:ext cx="14630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6. Capture</a:t>
            </a:r>
          </a:p>
        </p:txBody>
      </p:sp>
      <p:sp>
        <p:nvSpPr>
          <p:cNvPr id="34" name="TextBox 33"/>
          <p:cNvSpPr txBox="1"/>
          <p:nvPr/>
        </p:nvSpPr>
        <p:spPr>
          <a:xfrm>
            <a:off x="9985248" y="3035808"/>
            <a:ext cx="1481328" cy="86868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100" b="0" i="0">
                <a:solidFill>
                  <a:srgbClr val="9AA7B4"/>
                </a:solidFill>
                <a:latin typeface="Calibri"/>
              </a:rPr>
              <a:t>trace → re-runnable playbook</a:t>
            </a:r>
          </a:p>
        </p:txBody>
      </p:sp>
      <p:sp>
        <p:nvSpPr>
          <p:cNvPr id="35" name="Rounded Rectangle 34"/>
          <p:cNvSpPr/>
          <p:nvPr/>
        </p:nvSpPr>
        <p:spPr>
          <a:xfrm>
            <a:off x="548640" y="4343400"/>
            <a:ext cx="11064240" cy="713232"/>
          </a:xfrm>
          <a:prstGeom prst="roundRect">
            <a:avLst/>
          </a:prstGeom>
          <a:solidFill>
            <a:srgbClr val="1E2633"/>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443984"/>
            <a:ext cx="10607040" cy="54864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450" b="1" i="0">
                <a:solidFill>
                  <a:srgbClr val="E6EDF3"/>
                </a:solidFill>
                <a:latin typeface="Calibri"/>
              </a:rPr>
              <a:t>Every step is a tool call, recorded. </a:t>
            </a:r>
            <a:r>
              <a:rPr sz="1450" b="0" i="0">
                <a:solidFill>
                  <a:srgbClr val="9AA7B4"/>
                </a:solidFill>
                <a:latin typeface="Calibri"/>
              </a:rPr>
              <a:t>Read-only steps run freely; any state-changing step suspends for approval before it fires.</a:t>
            </a:r>
          </a:p>
        </p:txBody>
      </p:sp>
      <p:sp>
        <p:nvSpPr>
          <p:cNvPr id="37" name="TextBox 36"/>
          <p:cNvSpPr txBox="1"/>
          <p:nvPr/>
        </p:nvSpPr>
        <p:spPr>
          <a:xfrm>
            <a:off x="548640" y="5394960"/>
            <a:ext cx="10972800" cy="64008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400" b="0" i="0">
                <a:solidFill>
                  <a:srgbClr val="3FD99B"/>
                </a:solidFill>
                <a:latin typeface="Calibri"/>
              </a:rPr>
              <a:t>The analyst never leaves the record, never writes a query — and ends with a verdict, an audit trail, and a playbook they can run next time.</a:t>
            </a:r>
          </a:p>
        </p:txBody>
      </p:sp>
      <p:sp>
        <p:nvSpPr>
          <p:cNvPr id="38" name="TextBox 37"/>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39" name="TextBox 38"/>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GROUNDING</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The agent starts from evidence, not the prompt</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The context is built before the model ever sees it</a:t>
            </a:r>
          </a:p>
        </p:txBody>
      </p:sp>
      <p:sp>
        <p:nvSpPr>
          <p:cNvPr id="7" name="Rounded Rectangle 6"/>
          <p:cNvSpPr/>
          <p:nvPr/>
        </p:nvSpPr>
        <p:spPr>
          <a:xfrm>
            <a:off x="548640" y="2011680"/>
            <a:ext cx="3584448" cy="3840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3584448" cy="9144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12848"/>
            <a:ext cx="3200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L0 · Normalize</a:t>
            </a:r>
          </a:p>
        </p:txBody>
      </p:sp>
      <p:sp>
        <p:nvSpPr>
          <p:cNvPr id="10" name="TextBox 9"/>
          <p:cNvSpPr txBox="1"/>
          <p:nvPr/>
        </p:nvSpPr>
        <p:spPr>
          <a:xfrm>
            <a:off x="749808" y="2697480"/>
            <a:ext cx="3246120" cy="3017520"/>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1250" b="0" i="0">
                <a:solidFill>
                  <a:srgbClr val="E6EDF3"/>
                </a:solidFill>
                <a:latin typeface="Calibri"/>
              </a:rPr>
              <a:t>Collapse alert + case into one shape</a:t>
            </a:r>
          </a:p>
          <a:p>
            <a:pPr algn="l">
              <a:lnSpc>
                <a:spcPct val="105000"/>
              </a:lnSpc>
              <a:spcBef>
                <a:spcPts val="0"/>
              </a:spcBef>
              <a:spcAft>
                <a:spcPts val="500"/>
              </a:spcAft>
            </a:pPr>
            <a:r>
              <a:rPr sz="1250" b="0" i="0">
                <a:solidFill>
                  <a:srgbClr val="E6EDF3"/>
                </a:solidFill>
                <a:latin typeface="Calibri"/>
              </a:rPr>
              <a:t>Extract IPs / hosts / users / hashes</a:t>
            </a:r>
          </a:p>
          <a:p>
            <a:pPr algn="l">
              <a:lnSpc>
                <a:spcPct val="105000"/>
              </a:lnSpc>
              <a:spcBef>
                <a:spcPts val="0"/>
              </a:spcBef>
              <a:spcAft>
                <a:spcPts val="500"/>
              </a:spcAft>
            </a:pPr>
            <a:r>
              <a:rPr sz="1250" b="0" i="0">
                <a:solidFill>
                  <a:srgbClr val="E6EDF3"/>
                </a:solidFill>
                <a:latin typeface="Calibri"/>
              </a:rPr>
              <a:t>from first-class fields AND free text</a:t>
            </a:r>
          </a:p>
          <a:p>
            <a:pPr algn="l">
              <a:lnSpc>
                <a:spcPct val="105000"/>
              </a:lnSpc>
              <a:spcBef>
                <a:spcPts val="0"/>
              </a:spcBef>
              <a:spcAft>
                <a:spcPts val="500"/>
              </a:spcAft>
            </a:pPr>
            <a:r>
              <a:rPr sz="1250" b="0" i="0">
                <a:solidFill>
                  <a:srgbClr val="E6EDF3"/>
                </a:solidFill>
                <a:latin typeface="Calibri"/>
              </a:rPr>
              <a:t>Surface MITRE tactics + severity</a:t>
            </a:r>
          </a:p>
          <a:p>
            <a:pPr algn="l">
              <a:lnSpc>
                <a:spcPct val="105000"/>
              </a:lnSpc>
              <a:spcBef>
                <a:spcPts val="0"/>
              </a:spcBef>
              <a:spcAft>
                <a:spcPts val="500"/>
              </a:spcAft>
            </a:pPr>
            <a:r>
              <a:rPr sz="1250" b="0" i="0">
                <a:solidFill>
                  <a:srgbClr val="E6EDF3"/>
                </a:solidFill>
                <a:latin typeface="Calibri"/>
              </a:rPr>
              <a:t>Pull the FULL triggering events —</a:t>
            </a:r>
          </a:p>
          <a:p>
            <a:pPr algn="l">
              <a:lnSpc>
                <a:spcPct val="105000"/>
              </a:lnSpc>
              <a:spcBef>
                <a:spcPts val="0"/>
              </a:spcBef>
              <a:spcAft>
                <a:spcPts val="500"/>
              </a:spcAft>
            </a:pPr>
            <a:r>
              <a:rPr sz="1250" b="0" i="0">
                <a:solidFill>
                  <a:srgbClr val="E6EDF3"/>
                </a:solidFill>
                <a:latin typeface="Calibri"/>
              </a:rPr>
              <a:t>the evidence a record view truncates</a:t>
            </a:r>
          </a:p>
        </p:txBody>
      </p:sp>
      <p:sp>
        <p:nvSpPr>
          <p:cNvPr id="11" name="Rounded Rectangle 10"/>
          <p:cNvSpPr/>
          <p:nvPr/>
        </p:nvSpPr>
        <p:spPr>
          <a:xfrm>
            <a:off x="4370831" y="2011680"/>
            <a:ext cx="3584448" cy="3840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1" y="2011680"/>
            <a:ext cx="3584448" cy="91440"/>
          </a:xfrm>
          <a:prstGeom prst="rect">
            <a:avLst/>
          </a:prstGeom>
          <a:solidFill>
            <a:srgbClr val="B4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1999" y="2212848"/>
            <a:ext cx="3200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L1 · Classify</a:t>
            </a:r>
          </a:p>
        </p:txBody>
      </p:sp>
      <p:sp>
        <p:nvSpPr>
          <p:cNvPr id="14" name="TextBox 13"/>
          <p:cNvSpPr txBox="1"/>
          <p:nvPr/>
        </p:nvSpPr>
        <p:spPr>
          <a:xfrm>
            <a:off x="4571999" y="2697480"/>
            <a:ext cx="3246120" cy="3017520"/>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1250" b="0" i="0">
                <a:solidFill>
                  <a:srgbClr val="E6EDF3"/>
                </a:solidFill>
                <a:latin typeface="Calibri"/>
              </a:rPr>
              <a:t>Detect the scenario:</a:t>
            </a:r>
          </a:p>
          <a:p>
            <a:pPr algn="l">
              <a:lnSpc>
                <a:spcPct val="105000"/>
              </a:lnSpc>
              <a:spcBef>
                <a:spcPts val="0"/>
              </a:spcBef>
              <a:spcAft>
                <a:spcPts val="500"/>
              </a:spcAft>
            </a:pPr>
            <a:r>
              <a:rPr sz="1250" b="0" i="0">
                <a:solidFill>
                  <a:srgbClr val="E6EDF3"/>
                </a:solidFill>
                <a:latin typeface="Calibri"/>
              </a:rPr>
              <a:t>C2 / exfil · malware · mail-egress</a:t>
            </a:r>
          </a:p>
          <a:p>
            <a:pPr algn="l">
              <a:lnSpc>
                <a:spcPct val="105000"/>
              </a:lnSpc>
              <a:spcBef>
                <a:spcPts val="0"/>
              </a:spcBef>
              <a:spcAft>
                <a:spcPts val="500"/>
              </a:spcAft>
            </a:pPr>
            <a:r>
              <a:rPr sz="1250" b="0" i="0">
                <a:solidFill>
                  <a:srgbClr val="E6EDF3"/>
                </a:solidFill>
                <a:latin typeface="Calibri"/>
              </a:rPr>
              <a:t>intrusion · defense-evasion</a:t>
            </a:r>
          </a:p>
          <a:p>
            <a:pPr algn="l">
              <a:lnSpc>
                <a:spcPct val="105000"/>
              </a:lnSpc>
              <a:spcBef>
                <a:spcPts val="0"/>
              </a:spcBef>
              <a:spcAft>
                <a:spcPts val="500"/>
              </a:spcAft>
            </a:pPr>
            <a:r>
              <a:rPr sz="1250" b="0" i="0">
                <a:solidFill>
                  <a:srgbClr val="9AA7B4"/>
                </a:solidFill>
                <a:latin typeface="Calibri"/>
              </a:rPr>
              <a:t/>
            </a:r>
          </a:p>
          <a:p>
            <a:pPr algn="l">
              <a:lnSpc>
                <a:spcPct val="105000"/>
              </a:lnSpc>
              <a:spcBef>
                <a:spcPts val="0"/>
              </a:spcBef>
              <a:spcAft>
                <a:spcPts val="500"/>
              </a:spcAft>
            </a:pPr>
            <a:r>
              <a:rPr sz="1250" b="0" i="0">
                <a:solidFill>
                  <a:srgbClr val="E6EDF3"/>
                </a:solidFill>
                <a:latin typeface="Calibri"/>
              </a:rPr>
              <a:t>Map → scenario-specific</a:t>
            </a:r>
          </a:p>
          <a:p>
            <a:pPr algn="l">
              <a:lnSpc>
                <a:spcPct val="105000"/>
              </a:lnSpc>
              <a:spcBef>
                <a:spcPts val="0"/>
              </a:spcBef>
              <a:spcAft>
                <a:spcPts val="500"/>
              </a:spcAft>
            </a:pPr>
            <a:r>
              <a:rPr sz="1250" b="0" i="0">
                <a:solidFill>
                  <a:srgbClr val="E6EDF3"/>
                </a:solidFill>
                <a:latin typeface="Calibri"/>
              </a:rPr>
              <a:t>“opening moves” for the agent</a:t>
            </a:r>
          </a:p>
        </p:txBody>
      </p:sp>
      <p:sp>
        <p:nvSpPr>
          <p:cNvPr id="15" name="Rounded Rectangle 14"/>
          <p:cNvSpPr/>
          <p:nvPr/>
        </p:nvSpPr>
        <p:spPr>
          <a:xfrm>
            <a:off x="8193023" y="2011680"/>
            <a:ext cx="3584448" cy="3840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3023" y="2011680"/>
            <a:ext cx="3584448" cy="91440"/>
          </a:xfrm>
          <a:prstGeom prst="rect">
            <a:avLst/>
          </a:prstGeom>
          <a:solidFill>
            <a:srgbClr val="3FD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2212848"/>
            <a:ext cx="3200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L2 · Build prompt</a:t>
            </a:r>
          </a:p>
        </p:txBody>
      </p:sp>
      <p:sp>
        <p:nvSpPr>
          <p:cNvPr id="18" name="TextBox 17"/>
          <p:cNvSpPr txBox="1"/>
          <p:nvPr/>
        </p:nvSpPr>
        <p:spPr>
          <a:xfrm>
            <a:off x="8394192" y="2697480"/>
            <a:ext cx="3246120" cy="3017520"/>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1250" b="0" i="0">
                <a:solidFill>
                  <a:srgbClr val="E6EDF3"/>
                </a:solidFill>
                <a:latin typeface="Calibri"/>
              </a:rPr>
              <a:t>Inject a 'what we know' block</a:t>
            </a:r>
          </a:p>
          <a:p>
            <a:pPr algn="l">
              <a:lnSpc>
                <a:spcPct val="105000"/>
              </a:lnSpc>
              <a:spcBef>
                <a:spcPts val="0"/>
              </a:spcBef>
              <a:spcAft>
                <a:spcPts val="500"/>
              </a:spcAft>
            </a:pPr>
            <a:r>
              <a:rPr sz="1250" b="0" i="0">
                <a:solidFill>
                  <a:srgbClr val="E6EDF3"/>
                </a:solidFill>
                <a:latin typeface="Calibri"/>
              </a:rPr>
              <a:t>Pre-fill entity context</a:t>
            </a:r>
          </a:p>
          <a:p>
            <a:pPr algn="l">
              <a:lnSpc>
                <a:spcPct val="105000"/>
              </a:lnSpc>
              <a:spcBef>
                <a:spcPts val="0"/>
              </a:spcBef>
              <a:spcAft>
                <a:spcPts val="500"/>
              </a:spcAft>
            </a:pPr>
            <a:r>
              <a:rPr sz="1250" b="0" i="0">
                <a:solidFill>
                  <a:srgbClr val="E6EDF3"/>
                </a:solidFill>
                <a:latin typeface="Calibri"/>
              </a:rPr>
              <a:t>Point at first-class SIEM tools</a:t>
            </a:r>
          </a:p>
          <a:p>
            <a:pPr algn="l">
              <a:lnSpc>
                <a:spcPct val="105000"/>
              </a:lnSpc>
              <a:spcBef>
                <a:spcPts val="0"/>
              </a:spcBef>
              <a:spcAft>
                <a:spcPts val="500"/>
              </a:spcAft>
            </a:pPr>
            <a:r>
              <a:rPr sz="1250" b="0" i="0">
                <a:solidFill>
                  <a:srgbClr val="E6EDF3"/>
                </a:solidFill>
                <a:latin typeface="Calibri"/>
              </a:rPr>
              <a:t>(not fiddly raw queries)</a:t>
            </a:r>
          </a:p>
          <a:p>
            <a:pPr algn="l">
              <a:lnSpc>
                <a:spcPct val="105000"/>
              </a:lnSpc>
              <a:spcBef>
                <a:spcPts val="0"/>
              </a:spcBef>
              <a:spcAft>
                <a:spcPts val="500"/>
              </a:spcAft>
            </a:pPr>
            <a:r>
              <a:rPr sz="1250" b="0" i="0">
                <a:solidFill>
                  <a:srgbClr val="E6EDF3"/>
                </a:solidFill>
                <a:latin typeface="Calibri"/>
              </a:rPr>
              <a:t>Attach a verdict + containment</a:t>
            </a:r>
          </a:p>
          <a:p>
            <a:pPr algn="l">
              <a:lnSpc>
                <a:spcPct val="105000"/>
              </a:lnSpc>
              <a:spcBef>
                <a:spcPts val="0"/>
              </a:spcBef>
              <a:spcAft>
                <a:spcPts val="500"/>
              </a:spcAft>
            </a:pPr>
            <a:r>
              <a:rPr sz="1250" b="0" i="0">
                <a:solidFill>
                  <a:srgbClr val="E6EDF3"/>
                </a:solidFill>
                <a:latin typeface="Calibri"/>
              </a:rPr>
              <a:t>checklist</a:t>
            </a:r>
          </a:p>
        </p:txBody>
      </p:sp>
      <p:sp>
        <p:nvSpPr>
          <p:cNvPr id="19" name="TextBox 18"/>
          <p:cNvSpPr txBox="1"/>
          <p:nvPr/>
        </p:nvSpPr>
        <p:spPr>
          <a:xfrm>
            <a:off x="548640" y="6035040"/>
            <a:ext cx="1115568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50" b="1" i="0">
                <a:solidFill>
                  <a:srgbClr val="3FD99B"/>
                </a:solidFill>
                <a:latin typeface="Calibri"/>
              </a:rPr>
              <a:t>Result: </a:t>
            </a:r>
            <a:r>
              <a:rPr sz="1350" b="0" i="0">
                <a:solidFill>
                  <a:srgbClr val="E6EDF3"/>
                </a:solidFill>
                <a:latin typeface="Calibri"/>
              </a:rPr>
              <a:t>the model reasons over real, structured evidence instead of mining a 100 KB truncated record live.</a:t>
            </a:r>
          </a:p>
        </p:txBody>
      </p:sp>
      <p:sp>
        <p:nvSpPr>
          <p:cNvPr id="20" name="TextBox 19"/>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21" name="TextBox 20"/>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HUNTING</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First-class hunting across SIEM &amp; FortiAnalyzer</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The agent pivots indicators in every source — with the right tool, not raw queries</a:t>
            </a:r>
          </a:p>
        </p:txBody>
      </p:sp>
      <p:sp>
        <p:nvSpPr>
          <p:cNvPr id="7" name="TextBox 6"/>
          <p:cNvSpPr txBox="1"/>
          <p:nvPr/>
        </p:nvSpPr>
        <p:spPr>
          <a:xfrm>
            <a:off x="548640" y="2011680"/>
            <a:ext cx="5486400" cy="4572000"/>
          </a:xfrm>
          <a:prstGeom prst="rect">
            <a:avLst/>
          </a:prstGeom>
          <a:noFill/>
        </p:spPr>
        <p:txBody>
          <a:bodyPr wrap="square" anchor="t" lIns="25400" rIns="25400" tIns="25400" bIns="25400">
            <a:spAutoFit/>
          </a:bodyPr>
          <a:lstStyle/>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Source-matched  </a:t>
            </a:r>
            <a:r>
              <a:rPr sz="1350" b="0" i="0">
                <a:solidFill>
                  <a:srgbClr val="9AA7B4"/>
                </a:solidFill>
                <a:latin typeface="Calibri"/>
              </a:rPr>
              <a:t>SIEM alert → siem_* tools; FAZ alert → faz_* tools.</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Indicator pivots  </a:t>
            </a:r>
            <a:r>
              <a:rPr sz="1350" b="0" i="0">
                <a:solidFill>
                  <a:srgbClr val="9AA7B4"/>
                </a:solidFill>
                <a:latin typeface="Calibri"/>
              </a:rPr>
              <a:t>siem_search_ip / host / user across a time window.</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Incident events  </a:t>
            </a:r>
            <a:r>
              <a:rPr sz="1350" b="0" i="0">
                <a:solidFill>
                  <a:srgbClr val="9AA7B4"/>
                </a:solidFill>
                <a:latin typeface="Calibri"/>
              </a:rPr>
              <a:t>siem_events_for_incident pulls what triggered the case.</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Escape hatches  </a:t>
            </a:r>
            <a:r>
              <a:rPr sz="1350" b="0" i="0">
                <a:solidFill>
                  <a:srgbClr val="9AA7B4"/>
                </a:solidFill>
                <a:latin typeface="Calibri"/>
              </a:rPr>
              <a:t>siem_raw_query / faz_raw_query for native queries.</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Resilient transport  </a:t>
            </a:r>
            <a:r>
              <a:rPr sz="1350" b="0" i="0">
                <a:solidFill>
                  <a:srgbClr val="9AA7B4"/>
                </a:solidFill>
                <a:latin typeface="Calibri"/>
              </a:rPr>
              <a:t>modern JSON APIs, not the legacy query that 400s.</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Goes wide  </a:t>
            </a:r>
            <a:r>
              <a:rPr sz="1350" b="0" i="0">
                <a:solidFill>
                  <a:srgbClr val="9AA7B4"/>
                </a:solidFill>
                <a:latin typeface="Calibri"/>
              </a:rPr>
              <a:t>independent lookups batched in one turn for speed.</a:t>
            </a:r>
          </a:p>
        </p:txBody>
      </p:sp>
      <p:sp>
        <p:nvSpPr>
          <p:cNvPr id="8" name="Rounded Rectangle 7"/>
          <p:cNvSpPr/>
          <p:nvPr/>
        </p:nvSpPr>
        <p:spPr>
          <a:xfrm>
            <a:off x="6263640" y="2011680"/>
            <a:ext cx="5349240" cy="4023360"/>
          </a:xfrm>
          <a:prstGeom prst="roundRect">
            <a:avLst/>
          </a:prstGeom>
          <a:solidFill>
            <a:srgbClr val="0A0E14"/>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121408"/>
            <a:ext cx="4983479"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1" i="0">
                <a:solidFill>
                  <a:srgbClr val="9AA7B4"/>
                </a:solidFill>
                <a:latin typeface="Consolas"/>
              </a:rPr>
              <a:t>hunt FortiSIEM — no query language required</a:t>
            </a:r>
          </a:p>
        </p:txBody>
      </p:sp>
      <p:sp>
        <p:nvSpPr>
          <p:cNvPr id="10" name="TextBox 9"/>
          <p:cNvSpPr txBox="1"/>
          <p:nvPr/>
        </p:nvSpPr>
        <p:spPr>
          <a:xfrm>
            <a:off x="6464807" y="2432304"/>
            <a:ext cx="4946903" cy="3511296"/>
          </a:xfrm>
          <a:prstGeom prst="rect">
            <a:avLst/>
          </a:prstGeom>
          <a:noFill/>
        </p:spPr>
        <p:txBody>
          <a:bodyPr wrap="square" anchor="t" lIns="25400" rIns="25400" tIns="25400" bIns="25400">
            <a:spAutoFit/>
          </a:bodyPr>
          <a:lstStyle/>
          <a:p>
            <a:pPr algn="l">
              <a:lnSpc>
                <a:spcPct val="104000"/>
              </a:lnSpc>
              <a:spcBef>
                <a:spcPts val="0"/>
              </a:spcBef>
              <a:spcAft>
                <a:spcPts val="200"/>
              </a:spcAft>
            </a:pPr>
            <a:r>
              <a:rPr sz="1250" b="0" i="0">
                <a:solidFill>
                  <a:srgbClr val="E6EDF3"/>
                </a:solidFill>
                <a:latin typeface="Consolas"/>
              </a:rPr>
              <a:t>siem_search_ip(</a:t>
            </a:r>
          </a:p>
          <a:p>
            <a:pPr algn="l">
              <a:lnSpc>
                <a:spcPct val="104000"/>
              </a:lnSpc>
              <a:spcBef>
                <a:spcPts val="0"/>
              </a:spcBef>
              <a:spcAft>
                <a:spcPts val="200"/>
              </a:spcAft>
            </a:pPr>
            <a:r>
              <a:rPr sz="1250" b="0" i="0">
                <a:solidFill>
                  <a:srgbClr val="FFB454"/>
                </a:solidFill>
                <a:latin typeface="Consolas"/>
              </a:rPr>
              <a:t>  "102.220.160.21",</a:t>
            </a:r>
          </a:p>
          <a:p>
            <a:pPr algn="l">
              <a:lnSpc>
                <a:spcPct val="104000"/>
              </a:lnSpc>
              <a:spcBef>
                <a:spcPts val="0"/>
              </a:spcBef>
              <a:spcAft>
                <a:spcPts val="200"/>
              </a:spcAft>
            </a:pPr>
            <a:r>
              <a:rPr sz="1250" b="0" i="0">
                <a:solidFill>
                  <a:srgbClr val="3FD99B"/>
                </a:solidFill>
                <a:latin typeface="Consolas"/>
              </a:rPr>
              <a:t>  direction="dst", window="2h")</a:t>
            </a:r>
          </a:p>
          <a:p>
            <a:pPr algn="l">
              <a:lnSpc>
                <a:spcPct val="104000"/>
              </a:lnSpc>
              <a:spcBef>
                <a:spcPts val="0"/>
              </a:spcBef>
              <a:spcAft>
                <a:spcPts val="200"/>
              </a:spcAft>
            </a:pPr>
            <a:r>
              <a:rPr sz="500" b="0" i="0">
                <a:solidFill>
                  <a:srgbClr val="E6EDF3"/>
                </a:solidFill>
                <a:latin typeface="Consolas"/>
              </a:rPr>
              <a:t/>
            </a:r>
          </a:p>
          <a:p>
            <a:pPr algn="l">
              <a:lnSpc>
                <a:spcPct val="104000"/>
              </a:lnSpc>
              <a:spcBef>
                <a:spcPts val="0"/>
              </a:spcBef>
              <a:spcAft>
                <a:spcPts val="200"/>
              </a:spcAft>
            </a:pPr>
            <a:r>
              <a:rPr sz="1200" b="1" i="0">
                <a:solidFill>
                  <a:srgbClr val="9AA7B4"/>
                </a:solidFill>
                <a:latin typeface="Consolas"/>
              </a:rPr>
              <a:t>→ events (digested):</a:t>
            </a:r>
          </a:p>
          <a:p>
            <a:pPr algn="l">
              <a:lnSpc>
                <a:spcPct val="104000"/>
              </a:lnSpc>
              <a:spcBef>
                <a:spcPts val="0"/>
              </a:spcBef>
              <a:spcAft>
                <a:spcPts val="200"/>
              </a:spcAft>
            </a:pPr>
            <a:r>
              <a:rPr sz="1150" b="0" i="0">
                <a:solidFill>
                  <a:srgbClr val="E6EDF3"/>
                </a:solidFill>
                <a:latin typeface="Consolas"/>
              </a:rPr>
              <a:t>  ts  src→dst  bytes  svc  action</a:t>
            </a:r>
          </a:p>
          <a:p>
            <a:pPr algn="l">
              <a:lnSpc>
                <a:spcPct val="104000"/>
              </a:lnSpc>
              <a:spcBef>
                <a:spcPts val="0"/>
              </a:spcBef>
              <a:spcAft>
                <a:spcPts val="200"/>
              </a:spcAft>
            </a:pPr>
            <a:r>
              <a:rPr sz="500" b="0" i="0">
                <a:solidFill>
                  <a:srgbClr val="E6EDF3"/>
                </a:solidFill>
                <a:latin typeface="Consolas"/>
              </a:rPr>
              <a:t/>
            </a:r>
          </a:p>
          <a:p>
            <a:pPr algn="l">
              <a:lnSpc>
                <a:spcPct val="104000"/>
              </a:lnSpc>
              <a:spcBef>
                <a:spcPts val="0"/>
              </a:spcBef>
              <a:spcAft>
                <a:spcPts val="200"/>
              </a:spcAft>
            </a:pPr>
            <a:r>
              <a:rPr sz="1050" b="0" i="0">
                <a:solidFill>
                  <a:srgbClr val="9AA7B4"/>
                </a:solidFill>
                <a:latin typeface="Consolas"/>
              </a:rPr>
              <a:t># friendly fields → backend attrs:</a:t>
            </a:r>
          </a:p>
          <a:p>
            <a:pPr algn="l">
              <a:lnSpc>
                <a:spcPct val="104000"/>
              </a:lnSpc>
              <a:spcBef>
                <a:spcPts val="0"/>
              </a:spcBef>
              <a:spcAft>
                <a:spcPts val="200"/>
              </a:spcAft>
            </a:pPr>
            <a:r>
              <a:rPr sz="1100" b="0" i="0">
                <a:solidFill>
                  <a:srgbClr val="4C9AFF"/>
                </a:solidFill>
                <a:latin typeface="Consolas"/>
              </a:rPr>
              <a:t>#   sourceip → srcIpAddr</a:t>
            </a:r>
          </a:p>
          <a:p>
            <a:pPr algn="l">
              <a:lnSpc>
                <a:spcPct val="104000"/>
              </a:lnSpc>
              <a:spcBef>
                <a:spcPts val="0"/>
              </a:spcBef>
              <a:spcAft>
                <a:spcPts val="200"/>
              </a:spcAft>
            </a:pPr>
            <a:r>
              <a:rPr sz="1100" b="0" i="0">
                <a:solidFill>
                  <a:srgbClr val="4C9AFF"/>
                </a:solidFill>
                <a:latin typeface="Consolas"/>
              </a:rPr>
              <a:t>#   dstipv4  → destIpAddr</a:t>
            </a:r>
          </a:p>
          <a:p>
            <a:pPr algn="l">
              <a:lnSpc>
                <a:spcPct val="104000"/>
              </a:lnSpc>
              <a:spcBef>
                <a:spcPts val="0"/>
              </a:spcBef>
              <a:spcAft>
                <a:spcPts val="200"/>
              </a:spcAft>
            </a:pPr>
            <a:r>
              <a:rPr sz="500" b="0" i="0">
                <a:solidFill>
                  <a:srgbClr val="E6EDF3"/>
                </a:solidFill>
                <a:latin typeface="Consolas"/>
              </a:rPr>
              <a:t/>
            </a:r>
          </a:p>
          <a:p>
            <a:pPr algn="l">
              <a:lnSpc>
                <a:spcPct val="104000"/>
              </a:lnSpc>
              <a:spcBef>
                <a:spcPts val="0"/>
              </a:spcBef>
              <a:spcAft>
                <a:spcPts val="200"/>
              </a:spcAft>
            </a:pPr>
            <a:r>
              <a:rPr sz="1050" b="0" i="0">
                <a:solidFill>
                  <a:srgbClr val="9AA7B4"/>
                </a:solidFill>
                <a:latin typeface="Consolas"/>
              </a:rPr>
              <a:t># submit → poll → fetch, digested</a:t>
            </a:r>
          </a:p>
          <a:p>
            <a:pPr algn="l">
              <a:lnSpc>
                <a:spcPct val="104000"/>
              </a:lnSpc>
              <a:spcBef>
                <a:spcPts val="0"/>
              </a:spcBef>
              <a:spcAft>
                <a:spcPts val="200"/>
              </a:spcAft>
            </a:pPr>
            <a:r>
              <a:rPr sz="1050" b="0" i="0">
                <a:solidFill>
                  <a:srgbClr val="9AA7B4"/>
                </a:solidFill>
                <a:latin typeface="Consolas"/>
              </a:rPr>
              <a:t># to a compact result</a:t>
            </a:r>
          </a:p>
        </p:txBody>
      </p:sp>
      <p:sp>
        <p:nvSpPr>
          <p:cNvPr id="11" name="TextBox 10"/>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12" name="TextBox 11"/>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ENRICHMENT</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Cited verdicts, discovered live — never invented</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The connector surfaces real, configured, read-only intel ops</a:t>
            </a:r>
          </a:p>
        </p:txBody>
      </p:sp>
      <p:sp>
        <p:nvSpPr>
          <p:cNvPr id="7" name="TextBox 6"/>
          <p:cNvSpPr txBox="1"/>
          <p:nvPr/>
        </p:nvSpPr>
        <p:spPr>
          <a:xfrm>
            <a:off x="548640" y="2011680"/>
            <a:ext cx="5486400" cy="4572000"/>
          </a:xfrm>
          <a:prstGeom prst="rect">
            <a:avLst/>
          </a:prstGeom>
          <a:noFill/>
        </p:spPr>
        <p:txBody>
          <a:bodyPr wrap="square" anchor="t" lIns="25400" rIns="25400" tIns="25400" bIns="25400">
            <a:spAutoFit/>
          </a:bodyPr>
          <a:lstStyle/>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Discovery, not guessing  </a:t>
            </a:r>
            <a:r>
              <a:rPr sz="1350" b="0" i="0">
                <a:solidFill>
                  <a:srgbClr val="9AA7B4"/>
                </a:solidFill>
                <a:latin typeface="Calibri"/>
              </a:rPr>
              <a:t>every op comes from the live connector store.</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Ranked sources  </a:t>
            </a:r>
            <a:r>
              <a:rPr sz="1350" b="0" i="0">
                <a:solidFill>
                  <a:srgbClr val="9AA7B4"/>
                </a:solidFill>
                <a:latin typeface="Calibri"/>
              </a:rPr>
              <a:t>VirusTotal / FortiGuard first; Shodan / AbuseIPDB / URLScan next.</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Read-only by tier  </a:t>
            </a:r>
            <a:r>
              <a:rPr sz="1350" b="0" i="0">
                <a:solidFill>
                  <a:srgbClr val="9AA7B4"/>
                </a:solidFill>
                <a:latin typeface="Calibri"/>
              </a:rPr>
              <a:t>only intel ops with no side effects can be picked.</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Per-connector cap  </a:t>
            </a:r>
            <a:r>
              <a:rPr sz="1350" b="0" i="0">
                <a:solidFill>
                  <a:srgbClr val="9AA7B4"/>
                </a:solidFill>
                <a:latin typeface="Calibri"/>
              </a:rPr>
              <a:t>max 3 ops each, so one chatty connector can't crowd the slate.</a:t>
            </a:r>
          </a:p>
          <a:p>
            <a:pPr algn="l">
              <a:lnSpc>
                <a:spcPct val="105000"/>
              </a:lnSpc>
              <a:spcBef>
                <a:spcPts val="0"/>
              </a:spcBef>
              <a:spcAft>
                <a:spcPts val="1000"/>
              </a:spcAft>
            </a:pPr>
            <a:r>
              <a:rPr sz="1350" b="1" i="0">
                <a:solidFill>
                  <a:srgbClr val="4C9AFF"/>
                </a:solidFill>
                <a:latin typeface="Calibri"/>
              </a:rPr>
              <a:t>▸ </a:t>
            </a:r>
            <a:r>
              <a:rPr sz="1350" b="1" i="0">
                <a:solidFill>
                  <a:srgbClr val="E6EDF3"/>
                </a:solidFill>
                <a:latin typeface="Calibri"/>
              </a:rPr>
              <a:t>Health-aware  </a:t>
            </a:r>
            <a:r>
              <a:rPr sz="1350" b="0" i="0">
                <a:solidFill>
                  <a:srgbClr val="9AA7B4"/>
                </a:solidFill>
                <a:latin typeface="Calibri"/>
              </a:rPr>
              <a:t>only configured, healthy connectors are offered.</a:t>
            </a:r>
          </a:p>
        </p:txBody>
      </p:sp>
      <p:sp>
        <p:nvSpPr>
          <p:cNvPr id="8" name="Rounded Rectangle 7"/>
          <p:cNvSpPr/>
          <p:nvPr/>
        </p:nvSpPr>
        <p:spPr>
          <a:xfrm>
            <a:off x="6263640" y="2011680"/>
            <a:ext cx="5349240" cy="2286000"/>
          </a:xfrm>
          <a:prstGeom prst="roundRect">
            <a:avLst/>
          </a:prstGeom>
          <a:solidFill>
            <a:srgbClr val="0A0E14"/>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121408"/>
            <a:ext cx="4983479"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1" i="0">
                <a:solidFill>
                  <a:srgbClr val="9AA7B4"/>
                </a:solidFill>
                <a:latin typeface="Consolas"/>
              </a:rPr>
              <a:t>enrichment slate (real ops)</a:t>
            </a:r>
          </a:p>
        </p:txBody>
      </p:sp>
      <p:sp>
        <p:nvSpPr>
          <p:cNvPr id="10" name="TextBox 9"/>
          <p:cNvSpPr txBox="1"/>
          <p:nvPr/>
        </p:nvSpPr>
        <p:spPr>
          <a:xfrm>
            <a:off x="6464807" y="2432304"/>
            <a:ext cx="4946903" cy="1773936"/>
          </a:xfrm>
          <a:prstGeom prst="rect">
            <a:avLst/>
          </a:prstGeom>
          <a:noFill/>
        </p:spPr>
        <p:txBody>
          <a:bodyPr wrap="square" anchor="t" lIns="25400" rIns="25400" tIns="25400" bIns="25400">
            <a:spAutoFit/>
          </a:bodyPr>
          <a:lstStyle/>
          <a:p>
            <a:pPr algn="l">
              <a:lnSpc>
                <a:spcPct val="104000"/>
              </a:lnSpc>
              <a:spcBef>
                <a:spcPts val="0"/>
              </a:spcBef>
              <a:spcAft>
                <a:spcPts val="200"/>
              </a:spcAft>
            </a:pPr>
            <a:r>
              <a:rPr sz="1250" b="0" i="0">
                <a:solidFill>
                  <a:srgbClr val="E6EDF3"/>
                </a:solidFill>
                <a:latin typeface="Consolas"/>
              </a:rPr>
              <a:t>find_enrichment_actions(</a:t>
            </a:r>
          </a:p>
          <a:p>
            <a:pPr algn="l">
              <a:lnSpc>
                <a:spcPct val="104000"/>
              </a:lnSpc>
              <a:spcBef>
                <a:spcPts val="0"/>
              </a:spcBef>
              <a:spcAft>
                <a:spcPts val="200"/>
              </a:spcAft>
            </a:pPr>
            <a:r>
              <a:rPr sz="1250" b="0" i="0">
                <a:solidFill>
                  <a:srgbClr val="3FD99B"/>
                </a:solidFill>
                <a:latin typeface="Consolas"/>
              </a:rPr>
              <a:t>  target_type="ip")</a:t>
            </a:r>
          </a:p>
          <a:p>
            <a:pPr algn="l">
              <a:lnSpc>
                <a:spcPct val="104000"/>
              </a:lnSpc>
              <a:spcBef>
                <a:spcPts val="0"/>
              </a:spcBef>
              <a:spcAft>
                <a:spcPts val="200"/>
              </a:spcAft>
            </a:pPr>
            <a:r>
              <a:rPr sz="400" b="0" i="0">
                <a:solidFill>
                  <a:srgbClr val="E6EDF3"/>
                </a:solidFill>
                <a:latin typeface="Consolas"/>
              </a:rPr>
              <a:t/>
            </a:r>
          </a:p>
          <a:p>
            <a:pPr algn="l">
              <a:lnSpc>
                <a:spcPct val="104000"/>
              </a:lnSpc>
              <a:spcBef>
                <a:spcPts val="0"/>
              </a:spcBef>
              <a:spcAft>
                <a:spcPts val="200"/>
              </a:spcAft>
            </a:pPr>
            <a:r>
              <a:rPr sz="1150" b="0" i="0">
                <a:solidFill>
                  <a:srgbClr val="4C9AFF"/>
                </a:solidFill>
                <a:latin typeface="Consolas"/>
              </a:rPr>
              <a:t>→ virustotal · ip_reputation</a:t>
            </a:r>
          </a:p>
          <a:p>
            <a:pPr algn="l">
              <a:lnSpc>
                <a:spcPct val="104000"/>
              </a:lnSpc>
              <a:spcBef>
                <a:spcPts val="0"/>
              </a:spcBef>
              <a:spcAft>
                <a:spcPts val="200"/>
              </a:spcAft>
            </a:pPr>
            <a:r>
              <a:rPr sz="1150" b="0" i="0">
                <a:solidFill>
                  <a:srgbClr val="4C9AFF"/>
                </a:solidFill>
                <a:latin typeface="Consolas"/>
              </a:rPr>
              <a:t>  shodan      · host_info</a:t>
            </a:r>
          </a:p>
          <a:p>
            <a:pPr algn="l">
              <a:lnSpc>
                <a:spcPct val="104000"/>
              </a:lnSpc>
              <a:spcBef>
                <a:spcPts val="0"/>
              </a:spcBef>
              <a:spcAft>
                <a:spcPts val="200"/>
              </a:spcAft>
            </a:pPr>
            <a:r>
              <a:rPr sz="1150" b="0" i="0">
                <a:solidFill>
                  <a:srgbClr val="4C9AFF"/>
                </a:solidFill>
                <a:latin typeface="Consolas"/>
              </a:rPr>
              <a:t>  abuseipdb   · check_ip</a:t>
            </a:r>
          </a:p>
        </p:txBody>
      </p:sp>
      <p:sp>
        <p:nvSpPr>
          <p:cNvPr id="11" name="Rounded Rectangle 10"/>
          <p:cNvSpPr/>
          <p:nvPr/>
        </p:nvSpPr>
        <p:spPr>
          <a:xfrm>
            <a:off x="6263640" y="4480560"/>
            <a:ext cx="5349240" cy="1554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4617720"/>
            <a:ext cx="493776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50" b="1" i="0">
                <a:solidFill>
                  <a:srgbClr val="FFB454"/>
                </a:solidFill>
                <a:latin typeface="Calibri"/>
              </a:rPr>
              <a:t>Source-aware record curation</a:t>
            </a:r>
          </a:p>
        </p:txBody>
      </p:sp>
      <p:sp>
        <p:nvSpPr>
          <p:cNvPr id="13" name="TextBox 12"/>
          <p:cNvSpPr txBox="1"/>
          <p:nvPr/>
        </p:nvSpPr>
        <p:spPr>
          <a:xfrm>
            <a:off x="6446520" y="4983480"/>
            <a:ext cx="5029200" cy="1005840"/>
          </a:xfrm>
          <a:prstGeom prst="rect">
            <a:avLst/>
          </a:prstGeom>
          <a:noFill/>
        </p:spPr>
        <p:txBody>
          <a:bodyPr wrap="square" anchor="t" lIns="25400" rIns="25400" tIns="25400" bIns="25400">
            <a:spAutoFit/>
          </a:bodyPr>
          <a:lstStyle/>
          <a:p>
            <a:pPr algn="l">
              <a:lnSpc>
                <a:spcPct val="108000"/>
              </a:lnSpc>
              <a:spcBef>
                <a:spcPts val="0"/>
              </a:spcBef>
              <a:spcAft>
                <a:spcPts val="400"/>
              </a:spcAft>
            </a:pPr>
            <a:r>
              <a:rPr sz="1200" b="0" i="0">
                <a:solidFill>
                  <a:srgbClr val="9AA7B4"/>
                </a:solidFill>
                <a:latin typeface="Calibri"/>
              </a:rPr>
              <a:t>A hydrated FSR alert is ~100 KB. We drop audit noise, collapse picklists, and cap the payload</a:t>
            </a:r>
            <a:r>
              <a:rPr sz="1200" b="0" i="0">
                <a:solidFill>
                  <a:srgbClr val="3FD99B"/>
                </a:solidFill>
                <a:latin typeface="Calibri"/>
              </a:rPr>
              <a:t> — keeping every indicator, losing the bloat.</a:t>
            </a:r>
          </a:p>
        </p:txBody>
      </p:sp>
      <p:sp>
        <p:nvSpPr>
          <p:cNvPr id="14" name="TextBox 13"/>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15" name="TextBox 14"/>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CONTAINMENT</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Real response actions — staged, never silent</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The connector discovers response ops; the analyst is always the trigger</a:t>
            </a:r>
          </a:p>
        </p:txBody>
      </p:sp>
      <p:sp>
        <p:nvSpPr>
          <p:cNvPr id="7" name="Rounded Rectangle 6"/>
          <p:cNvSpPr/>
          <p:nvPr/>
        </p:nvSpPr>
        <p:spPr>
          <a:xfrm>
            <a:off x="548640" y="2011680"/>
            <a:ext cx="5440680" cy="393192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5440680" cy="9144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493776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Discovery → staging → approval</a:t>
            </a:r>
          </a:p>
        </p:txBody>
      </p:sp>
      <p:sp>
        <p:nvSpPr>
          <p:cNvPr id="10" name="TextBox 9"/>
          <p:cNvSpPr txBox="1"/>
          <p:nvPr/>
        </p:nvSpPr>
        <p:spPr>
          <a:xfrm>
            <a:off x="749808" y="2697480"/>
            <a:ext cx="5029200" cy="4572000"/>
          </a:xfrm>
          <a:prstGeom prst="rect">
            <a:avLst/>
          </a:prstGeom>
          <a:noFill/>
        </p:spPr>
        <p:txBody>
          <a:bodyPr wrap="square" anchor="t" lIns="25400" rIns="25400" tIns="25400" bIns="25400">
            <a:spAutoFit/>
          </a:bodyPr>
          <a:lstStyle/>
          <a:p>
            <a:pPr algn="l">
              <a:lnSpc>
                <a:spcPct val="105000"/>
              </a:lnSpc>
              <a:spcBef>
                <a:spcPts val="0"/>
              </a:spcBef>
              <a:spcAft>
                <a:spcPts val="900"/>
              </a:spcAft>
            </a:pPr>
            <a:r>
              <a:rPr sz="1250" b="1" i="0">
                <a:solidFill>
                  <a:srgbClr val="FFB454"/>
                </a:solidFill>
                <a:latin typeface="Calibri"/>
              </a:rPr>
              <a:t>▸ </a:t>
            </a:r>
            <a:r>
              <a:rPr sz="1250" b="1" i="0">
                <a:solidFill>
                  <a:srgbClr val="E6EDF3"/>
                </a:solidFill>
                <a:latin typeface="Calibri"/>
              </a:rPr>
              <a:t>Discover  </a:t>
            </a:r>
            <a:r>
              <a:rPr sz="1250" b="0" i="0">
                <a:solidFill>
                  <a:srgbClr val="9AA7B4"/>
                </a:solidFill>
                <a:latin typeface="Calibri"/>
              </a:rPr>
              <a:t>response verbs: block / quarantine / isolate / disable / revoke.</a:t>
            </a:r>
          </a:p>
          <a:p>
            <a:pPr algn="l">
              <a:lnSpc>
                <a:spcPct val="105000"/>
              </a:lnSpc>
              <a:spcBef>
                <a:spcPts val="0"/>
              </a:spcBef>
              <a:spcAft>
                <a:spcPts val="900"/>
              </a:spcAft>
            </a:pPr>
            <a:r>
              <a:rPr sz="1250" b="1" i="0">
                <a:solidFill>
                  <a:srgbClr val="FFB454"/>
                </a:solidFill>
                <a:latin typeface="Calibri"/>
              </a:rPr>
              <a:t>▸ </a:t>
            </a:r>
            <a:r>
              <a:rPr sz="1250" b="1" i="0">
                <a:solidFill>
                  <a:srgbClr val="E6EDF3"/>
                </a:solidFill>
                <a:latin typeface="Calibri"/>
              </a:rPr>
              <a:t>Target-matched  </a:t>
            </a:r>
            <a:r>
              <a:rPr sz="1250" b="0" i="0">
                <a:solidFill>
                  <a:srgbClr val="9AA7B4"/>
                </a:solidFill>
                <a:latin typeface="Calibri"/>
              </a:rPr>
              <a:t>by entity type — IP, host/endpoint, user, file.</a:t>
            </a:r>
          </a:p>
          <a:p>
            <a:pPr algn="l">
              <a:lnSpc>
                <a:spcPct val="105000"/>
              </a:lnSpc>
              <a:spcBef>
                <a:spcPts val="0"/>
              </a:spcBef>
              <a:spcAft>
                <a:spcPts val="900"/>
              </a:spcAft>
            </a:pPr>
            <a:r>
              <a:rPr sz="1250" b="1" i="0">
                <a:solidFill>
                  <a:srgbClr val="FFB454"/>
                </a:solidFill>
                <a:latin typeface="Calibri"/>
              </a:rPr>
              <a:t>▸ </a:t>
            </a:r>
            <a:r>
              <a:rPr sz="1250" b="1" i="0">
                <a:solidFill>
                  <a:srgbClr val="E6EDF3"/>
                </a:solidFill>
                <a:latin typeface="Calibri"/>
              </a:rPr>
              <a:t>Stage  </a:t>
            </a:r>
            <a:r>
              <a:rPr sz="1250" b="0" i="0">
                <a:solidFill>
                  <a:srgbClr val="9AA7B4"/>
                </a:solidFill>
                <a:latin typeface="Calibri"/>
              </a:rPr>
              <a:t>emit an action card with an editable arg preview.</a:t>
            </a:r>
          </a:p>
          <a:p>
            <a:pPr algn="l">
              <a:lnSpc>
                <a:spcPct val="105000"/>
              </a:lnSpc>
              <a:spcBef>
                <a:spcPts val="0"/>
              </a:spcBef>
              <a:spcAft>
                <a:spcPts val="900"/>
              </a:spcAft>
            </a:pPr>
            <a:r>
              <a:rPr sz="1250" b="1" i="0">
                <a:solidFill>
                  <a:srgbClr val="FFB454"/>
                </a:solidFill>
                <a:latin typeface="Calibri"/>
              </a:rPr>
              <a:t>▸ </a:t>
            </a:r>
            <a:r>
              <a:rPr sz="1250" b="1" i="0">
                <a:solidFill>
                  <a:srgbClr val="E6EDF3"/>
                </a:solidFill>
                <a:latin typeface="Calibri"/>
              </a:rPr>
              <a:t>Halt  </a:t>
            </a:r>
            <a:r>
              <a:rPr sz="1250" b="0" i="0">
                <a:solidFill>
                  <a:srgbClr val="9AA7B4"/>
                </a:solidFill>
                <a:latin typeface="Calibri"/>
              </a:rPr>
              <a:t>turn suspends; widget shows the card; nothing fires.</a:t>
            </a:r>
          </a:p>
          <a:p>
            <a:pPr algn="l">
              <a:lnSpc>
                <a:spcPct val="105000"/>
              </a:lnSpc>
              <a:spcBef>
                <a:spcPts val="0"/>
              </a:spcBef>
              <a:spcAft>
                <a:spcPts val="900"/>
              </a:spcAft>
            </a:pPr>
            <a:r>
              <a:rPr sz="1250" b="1" i="0">
                <a:solidFill>
                  <a:srgbClr val="FFB454"/>
                </a:solidFill>
                <a:latin typeface="Calibri"/>
              </a:rPr>
              <a:t>▸ </a:t>
            </a:r>
            <a:r>
              <a:rPr sz="1250" b="1" i="0">
                <a:solidFill>
                  <a:srgbClr val="E6EDF3"/>
                </a:solidFill>
                <a:latin typeface="Calibri"/>
              </a:rPr>
              <a:t>Approve  </a:t>
            </a:r>
            <a:r>
              <a:rPr sz="1250" b="0" i="0">
                <a:solidFill>
                  <a:srgbClr val="9AA7B4"/>
                </a:solidFill>
                <a:latin typeface="Calibri"/>
              </a:rPr>
              <a:t>analyst edits + confirms → resume carries the decision.</a:t>
            </a:r>
          </a:p>
          <a:p>
            <a:pPr algn="l">
              <a:lnSpc>
                <a:spcPct val="105000"/>
              </a:lnSpc>
              <a:spcBef>
                <a:spcPts val="0"/>
              </a:spcBef>
              <a:spcAft>
                <a:spcPts val="900"/>
              </a:spcAft>
            </a:pPr>
            <a:r>
              <a:rPr sz="1250" b="1" i="0">
                <a:solidFill>
                  <a:srgbClr val="FFB454"/>
                </a:solidFill>
                <a:latin typeface="Calibri"/>
              </a:rPr>
              <a:t>▸ </a:t>
            </a:r>
            <a:r>
              <a:rPr sz="1250" b="1" i="0">
                <a:solidFill>
                  <a:srgbClr val="E6EDF3"/>
                </a:solidFill>
                <a:latin typeface="Calibri"/>
              </a:rPr>
              <a:t>Execute  </a:t>
            </a:r>
            <a:r>
              <a:rPr sz="1250" b="0" i="0">
                <a:solidFill>
                  <a:srgbClr val="9AA7B4"/>
                </a:solidFill>
                <a:latin typeface="Calibri"/>
              </a:rPr>
              <a:t>the op runs with the approved args — and returns a result.</a:t>
            </a:r>
          </a:p>
        </p:txBody>
      </p:sp>
      <p:sp>
        <p:nvSpPr>
          <p:cNvPr id="11" name="Rounded Rectangle 10"/>
          <p:cNvSpPr/>
          <p:nvPr/>
        </p:nvSpPr>
        <p:spPr>
          <a:xfrm>
            <a:off x="6199632" y="2011680"/>
            <a:ext cx="5440680" cy="2423160"/>
          </a:xfrm>
          <a:prstGeom prst="roundRect">
            <a:avLst/>
          </a:prstGeom>
          <a:solidFill>
            <a:srgbClr val="0A0E14"/>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121408"/>
            <a:ext cx="507492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1" i="0">
                <a:solidFill>
                  <a:srgbClr val="9AA7B4"/>
                </a:solidFill>
                <a:latin typeface="Consolas"/>
              </a:rPr>
              <a:t>stage — does not execute</a:t>
            </a:r>
          </a:p>
        </p:txBody>
      </p:sp>
      <p:sp>
        <p:nvSpPr>
          <p:cNvPr id="13" name="TextBox 12"/>
          <p:cNvSpPr txBox="1"/>
          <p:nvPr/>
        </p:nvSpPr>
        <p:spPr>
          <a:xfrm>
            <a:off x="6400800" y="2432304"/>
            <a:ext cx="5038344" cy="1911095"/>
          </a:xfrm>
          <a:prstGeom prst="rect">
            <a:avLst/>
          </a:prstGeom>
          <a:noFill/>
        </p:spPr>
        <p:txBody>
          <a:bodyPr wrap="square" anchor="t" lIns="25400" rIns="25400" tIns="25400" bIns="25400">
            <a:spAutoFit/>
          </a:bodyPr>
          <a:lstStyle/>
          <a:p>
            <a:pPr algn="l">
              <a:lnSpc>
                <a:spcPct val="104000"/>
              </a:lnSpc>
              <a:spcBef>
                <a:spcPts val="0"/>
              </a:spcBef>
              <a:spcAft>
                <a:spcPts val="200"/>
              </a:spcAft>
            </a:pPr>
            <a:r>
              <a:rPr sz="1200" b="0" i="0">
                <a:solidFill>
                  <a:srgbClr val="E6EDF3"/>
                </a:solidFill>
                <a:latin typeface="Consolas"/>
              </a:rPr>
              <a:t>emit_action_card(</a:t>
            </a:r>
          </a:p>
          <a:p>
            <a:pPr algn="l">
              <a:lnSpc>
                <a:spcPct val="104000"/>
              </a:lnSpc>
              <a:spcBef>
                <a:spcPts val="0"/>
              </a:spcBef>
              <a:spcAft>
                <a:spcPts val="200"/>
              </a:spcAft>
            </a:pPr>
            <a:r>
              <a:rPr sz="1200" b="0" i="0">
                <a:solidFill>
                  <a:srgbClr val="4C9AFF"/>
                </a:solidFill>
                <a:latin typeface="Consolas"/>
              </a:rPr>
              <a:t>  connector="fortios",</a:t>
            </a:r>
          </a:p>
          <a:p>
            <a:pPr algn="l">
              <a:lnSpc>
                <a:spcPct val="104000"/>
              </a:lnSpc>
              <a:spcBef>
                <a:spcPts val="0"/>
              </a:spcBef>
              <a:spcAft>
                <a:spcPts val="200"/>
              </a:spcAft>
            </a:pPr>
            <a:r>
              <a:rPr sz="1200" b="1" i="0">
                <a:solidFill>
                  <a:srgbClr val="FFB454"/>
                </a:solidFill>
                <a:latin typeface="Consolas"/>
              </a:rPr>
              <a:t>  operation="block_ip",</a:t>
            </a:r>
          </a:p>
          <a:p>
            <a:pPr algn="l">
              <a:lnSpc>
                <a:spcPct val="104000"/>
              </a:lnSpc>
              <a:spcBef>
                <a:spcPts val="0"/>
              </a:spcBef>
              <a:spcAft>
                <a:spcPts val="200"/>
              </a:spcAft>
            </a:pPr>
            <a:r>
              <a:rPr sz="1200" b="0" i="0">
                <a:solidFill>
                  <a:srgbClr val="E6EDF3"/>
                </a:solidFill>
                <a:latin typeface="Consolas"/>
              </a:rPr>
              <a:t>  args={"ip": "102.220.160.21"},</a:t>
            </a:r>
          </a:p>
          <a:p>
            <a:pPr algn="l">
              <a:lnSpc>
                <a:spcPct val="104000"/>
              </a:lnSpc>
              <a:spcBef>
                <a:spcPts val="0"/>
              </a:spcBef>
              <a:spcAft>
                <a:spcPts val="200"/>
              </a:spcAft>
            </a:pPr>
            <a:r>
              <a:rPr sz="1200" b="0" i="0">
                <a:solidFill>
                  <a:srgbClr val="3FD99B"/>
                </a:solidFill>
                <a:latin typeface="Consolas"/>
              </a:rPr>
              <a:t>  editable_fields=["ip"])</a:t>
            </a:r>
          </a:p>
          <a:p>
            <a:pPr algn="l">
              <a:lnSpc>
                <a:spcPct val="104000"/>
              </a:lnSpc>
              <a:spcBef>
                <a:spcPts val="0"/>
              </a:spcBef>
              <a:spcAft>
                <a:spcPts val="200"/>
              </a:spcAft>
            </a:pPr>
            <a:r>
              <a:rPr sz="400" b="0" i="0">
                <a:solidFill>
                  <a:srgbClr val="E6EDF3"/>
                </a:solidFill>
                <a:latin typeface="Consolas"/>
              </a:rPr>
              <a:t/>
            </a:r>
          </a:p>
          <a:p>
            <a:pPr algn="l">
              <a:lnSpc>
                <a:spcPct val="104000"/>
              </a:lnSpc>
              <a:spcBef>
                <a:spcPts val="0"/>
              </a:spcBef>
              <a:spcAft>
                <a:spcPts val="200"/>
              </a:spcAft>
            </a:pPr>
            <a:r>
              <a:rPr sz="1100" b="0" i="0">
                <a:solidFill>
                  <a:srgbClr val="9AA7B4"/>
                </a:solidFill>
                <a:latin typeface="Consolas"/>
              </a:rPr>
              <a:t>→ awaiting_action_card (halts)</a:t>
            </a:r>
          </a:p>
        </p:txBody>
      </p:sp>
      <p:sp>
        <p:nvSpPr>
          <p:cNvPr id="14" name="Rounded Rectangle 13"/>
          <p:cNvSpPr/>
          <p:nvPr/>
        </p:nvSpPr>
        <p:spPr>
          <a:xfrm>
            <a:off x="6199632" y="4617720"/>
            <a:ext cx="5440680" cy="1325880"/>
          </a:xfrm>
          <a:prstGeom prst="roundRect">
            <a:avLst/>
          </a:prstGeom>
          <a:solidFill>
            <a:srgbClr val="161C26"/>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754880"/>
            <a:ext cx="5029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50" b="1" i="0">
                <a:solidFill>
                  <a:srgbClr val="3FD99B"/>
                </a:solidFill>
                <a:latin typeface="Calibri"/>
              </a:rPr>
              <a:t>Never a dead end</a:t>
            </a:r>
          </a:p>
        </p:txBody>
      </p:sp>
      <p:sp>
        <p:nvSpPr>
          <p:cNvPr id="16" name="TextBox 15"/>
          <p:cNvSpPr txBox="1"/>
          <p:nvPr/>
        </p:nvSpPr>
        <p:spPr>
          <a:xfrm>
            <a:off x="6382512" y="5120640"/>
            <a:ext cx="5074920" cy="777240"/>
          </a:xfrm>
          <a:prstGeom prst="rect">
            <a:avLst/>
          </a:prstGeom>
          <a:noFill/>
        </p:spPr>
        <p:txBody>
          <a:bodyPr wrap="square" anchor="t" lIns="25400" rIns="25400" tIns="25400" bIns="25400">
            <a:spAutoFit/>
          </a:bodyPr>
          <a:lstStyle/>
          <a:p>
            <a:pPr algn="l">
              <a:lnSpc>
                <a:spcPct val="105000"/>
              </a:lnSpc>
              <a:spcBef>
                <a:spcPts val="0"/>
              </a:spcBef>
              <a:spcAft>
                <a:spcPts val="400"/>
              </a:spcAft>
            </a:pPr>
            <a:r>
              <a:rPr sz="1200" b="0" i="0">
                <a:solidFill>
                  <a:srgbClr val="E6EDF3"/>
                </a:solidFill>
                <a:latin typeface="Calibri"/>
              </a:rPr>
              <a:t>No response connector configured? </a:t>
            </a:r>
            <a:r>
              <a:rPr sz="1200" b="0" i="0">
                <a:solidFill>
                  <a:srgbClr val="9AA7B4"/>
                </a:solidFill>
                <a:latin typeface="Calibri"/>
              </a:rPr>
              <a:t>a capability-gap card names the missing op, the connector to enable, and a resume button.</a:t>
            </a:r>
          </a:p>
        </p:txBody>
      </p:sp>
      <p:sp>
        <p:nvSpPr>
          <p:cNvPr id="17" name="TextBox 16"/>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18" name="TextBox 17"/>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THE SAFETY MODEL</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Every tool carries a tier — the gate is structural</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Approval isn't a prompt instruction. It's dispatch logic in the connector.</a:t>
            </a:r>
          </a:p>
        </p:txBody>
      </p:sp>
      <p:sp>
        <p:nvSpPr>
          <p:cNvPr id="7" name="Rounded Rectangle 6"/>
          <p:cNvSpPr/>
          <p:nvPr/>
        </p:nvSpPr>
        <p:spPr>
          <a:xfrm>
            <a:off x="548640" y="2148840"/>
            <a:ext cx="11064240" cy="7132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48840"/>
            <a:ext cx="640080" cy="713232"/>
          </a:xfrm>
          <a:prstGeom prst="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13432"/>
            <a:ext cx="640080" cy="45720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2200" b="1" i="0">
                <a:solidFill>
                  <a:srgbClr val="3FD99B"/>
                </a:solidFill>
                <a:latin typeface="Calibri"/>
              </a:rPr>
              <a:t>0</a:t>
            </a:r>
          </a:p>
        </p:txBody>
      </p:sp>
      <p:sp>
        <p:nvSpPr>
          <p:cNvPr id="10" name="TextBox 9"/>
          <p:cNvSpPr txBox="1"/>
          <p:nvPr/>
        </p:nvSpPr>
        <p:spPr>
          <a:xfrm>
            <a:off x="1371600" y="2267712"/>
            <a:ext cx="36576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500" b="1" i="0">
                <a:solidFill>
                  <a:srgbClr val="E6EDF3"/>
                </a:solidFill>
                <a:latin typeface="Calibri"/>
              </a:rPr>
              <a:t>Local only</a:t>
            </a:r>
          </a:p>
        </p:txBody>
      </p:sp>
      <p:sp>
        <p:nvSpPr>
          <p:cNvPr id="11" name="TextBox 10"/>
          <p:cNvSpPr txBox="1"/>
          <p:nvPr/>
        </p:nvSpPr>
        <p:spPr>
          <a:xfrm>
            <a:off x="5120640" y="2267712"/>
            <a:ext cx="475488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250" b="0" i="0">
                <a:solidFill>
                  <a:srgbClr val="9AA7B4"/>
                </a:solidFill>
                <a:latin typeface="Calibri"/>
              </a:rPr>
              <a:t>discovery, record lookups, card emission</a:t>
            </a:r>
          </a:p>
        </p:txBody>
      </p:sp>
      <p:sp>
        <p:nvSpPr>
          <p:cNvPr id="12" name="Rounded Rectangle 11"/>
          <p:cNvSpPr/>
          <p:nvPr/>
        </p:nvSpPr>
        <p:spPr>
          <a:xfrm>
            <a:off x="10104120" y="2322576"/>
            <a:ext cx="1325880" cy="365760"/>
          </a:xfrm>
          <a:prstGeom prst="roundRect">
            <a:avLst/>
          </a:prstGeom>
          <a:no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04120" y="2340864"/>
            <a:ext cx="1325880" cy="329184"/>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50" b="1" i="0">
                <a:solidFill>
                  <a:srgbClr val="3FD99B"/>
                </a:solidFill>
                <a:latin typeface="Calibri"/>
              </a:rPr>
              <a:t>▶ runs</a:t>
            </a:r>
          </a:p>
        </p:txBody>
      </p:sp>
      <p:sp>
        <p:nvSpPr>
          <p:cNvPr id="14" name="Rounded Rectangle 13"/>
          <p:cNvSpPr/>
          <p:nvPr/>
        </p:nvSpPr>
        <p:spPr>
          <a:xfrm>
            <a:off x="548640" y="2935224"/>
            <a:ext cx="11064240" cy="7132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935224"/>
            <a:ext cx="640080" cy="713232"/>
          </a:xfrm>
          <a:prstGeom prst="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099816"/>
            <a:ext cx="640080" cy="45720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2200" b="1" i="0">
                <a:solidFill>
                  <a:srgbClr val="3FD99B"/>
                </a:solidFill>
                <a:latin typeface="Calibri"/>
              </a:rPr>
              <a:t>1</a:t>
            </a:r>
          </a:p>
        </p:txBody>
      </p:sp>
      <p:sp>
        <p:nvSpPr>
          <p:cNvPr id="17" name="TextBox 16"/>
          <p:cNvSpPr txBox="1"/>
          <p:nvPr/>
        </p:nvSpPr>
        <p:spPr>
          <a:xfrm>
            <a:off x="1371600" y="3054096"/>
            <a:ext cx="36576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500" b="1" i="0">
                <a:solidFill>
                  <a:srgbClr val="E6EDF3"/>
                </a:solidFill>
                <a:latin typeface="Calibri"/>
              </a:rPr>
              <a:t>Read-only FSR / SIEM</a:t>
            </a:r>
          </a:p>
        </p:txBody>
      </p:sp>
      <p:sp>
        <p:nvSpPr>
          <p:cNvPr id="18" name="TextBox 17"/>
          <p:cNvSpPr txBox="1"/>
          <p:nvPr/>
        </p:nvSpPr>
        <p:spPr>
          <a:xfrm>
            <a:off x="5120640" y="3054096"/>
            <a:ext cx="475488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250" b="0" i="0">
                <a:solidFill>
                  <a:srgbClr val="9AA7B4"/>
                </a:solidFill>
                <a:latin typeface="Calibri"/>
              </a:rPr>
              <a:t>get_record, siem_*, faz_* hunting</a:t>
            </a:r>
          </a:p>
        </p:txBody>
      </p:sp>
      <p:sp>
        <p:nvSpPr>
          <p:cNvPr id="19" name="Rounded Rectangle 18"/>
          <p:cNvSpPr/>
          <p:nvPr/>
        </p:nvSpPr>
        <p:spPr>
          <a:xfrm>
            <a:off x="10104120" y="3108960"/>
            <a:ext cx="1325880" cy="365760"/>
          </a:xfrm>
          <a:prstGeom prst="roundRect">
            <a:avLst/>
          </a:prstGeom>
          <a:no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04120" y="3127248"/>
            <a:ext cx="1325880" cy="329184"/>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50" b="1" i="0">
                <a:solidFill>
                  <a:srgbClr val="3FD99B"/>
                </a:solidFill>
                <a:latin typeface="Calibri"/>
              </a:rPr>
              <a:t>▶ runs</a:t>
            </a:r>
          </a:p>
        </p:txBody>
      </p:sp>
      <p:sp>
        <p:nvSpPr>
          <p:cNvPr id="21" name="Rounded Rectangle 20"/>
          <p:cNvSpPr/>
          <p:nvPr/>
        </p:nvSpPr>
        <p:spPr>
          <a:xfrm>
            <a:off x="548640" y="3721608"/>
            <a:ext cx="11064240" cy="7132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721608"/>
            <a:ext cx="640080" cy="713232"/>
          </a:xfrm>
          <a:prstGeom prst="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886200"/>
            <a:ext cx="640080" cy="45720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2200" b="1" i="0">
                <a:solidFill>
                  <a:srgbClr val="4C9AFF"/>
                </a:solidFill>
                <a:latin typeface="Calibri"/>
              </a:rPr>
              <a:t>2</a:t>
            </a:r>
          </a:p>
        </p:txBody>
      </p:sp>
      <p:sp>
        <p:nvSpPr>
          <p:cNvPr id="24" name="TextBox 23"/>
          <p:cNvSpPr txBox="1"/>
          <p:nvPr/>
        </p:nvSpPr>
        <p:spPr>
          <a:xfrm>
            <a:off x="1371600" y="3840480"/>
            <a:ext cx="36576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500" b="1" i="0">
                <a:solidFill>
                  <a:srgbClr val="E6EDF3"/>
                </a:solidFill>
                <a:latin typeface="Calibri"/>
              </a:rPr>
              <a:t>Read-only external</a:t>
            </a:r>
          </a:p>
        </p:txBody>
      </p:sp>
      <p:sp>
        <p:nvSpPr>
          <p:cNvPr id="25" name="TextBox 24"/>
          <p:cNvSpPr txBox="1"/>
          <p:nvPr/>
        </p:nvSpPr>
        <p:spPr>
          <a:xfrm>
            <a:off x="5120640" y="3840480"/>
            <a:ext cx="475488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250" b="0" i="0">
                <a:solidFill>
                  <a:srgbClr val="9AA7B4"/>
                </a:solidFill>
                <a:latin typeface="Calibri"/>
              </a:rPr>
              <a:t>VirusTotal / Shodan / AbuseIPDB enrichment</a:t>
            </a:r>
          </a:p>
        </p:txBody>
      </p:sp>
      <p:sp>
        <p:nvSpPr>
          <p:cNvPr id="26" name="Rounded Rectangle 25"/>
          <p:cNvSpPr/>
          <p:nvPr/>
        </p:nvSpPr>
        <p:spPr>
          <a:xfrm>
            <a:off x="10104120" y="3895344"/>
            <a:ext cx="1325880" cy="365760"/>
          </a:xfrm>
          <a:prstGeom prst="roundRect">
            <a:avLst/>
          </a:prstGeom>
          <a:no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04120" y="3913632"/>
            <a:ext cx="1325880" cy="329184"/>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50" b="1" i="0">
                <a:solidFill>
                  <a:srgbClr val="3FD99B"/>
                </a:solidFill>
                <a:latin typeface="Calibri"/>
              </a:rPr>
              <a:t>▶ runs</a:t>
            </a:r>
          </a:p>
        </p:txBody>
      </p:sp>
      <p:sp>
        <p:nvSpPr>
          <p:cNvPr id="28" name="Rounded Rectangle 27"/>
          <p:cNvSpPr/>
          <p:nvPr/>
        </p:nvSpPr>
        <p:spPr>
          <a:xfrm>
            <a:off x="548640" y="4507992"/>
            <a:ext cx="11064240" cy="7132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507992"/>
            <a:ext cx="640080" cy="713232"/>
          </a:xfrm>
          <a:prstGeom prst="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672584"/>
            <a:ext cx="640080" cy="45720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2200" b="1" i="0">
                <a:solidFill>
                  <a:srgbClr val="FFB454"/>
                </a:solidFill>
                <a:latin typeface="Calibri"/>
              </a:rPr>
              <a:t>3</a:t>
            </a:r>
          </a:p>
        </p:txBody>
      </p:sp>
      <p:sp>
        <p:nvSpPr>
          <p:cNvPr id="31" name="TextBox 30"/>
          <p:cNvSpPr txBox="1"/>
          <p:nvPr/>
        </p:nvSpPr>
        <p:spPr>
          <a:xfrm>
            <a:off x="1371600" y="4626864"/>
            <a:ext cx="36576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500" b="1" i="0">
                <a:solidFill>
                  <a:srgbClr val="E6EDF3"/>
                </a:solidFill>
                <a:latin typeface="Calibri"/>
              </a:rPr>
              <a:t>FSR data mutation</a:t>
            </a:r>
          </a:p>
        </p:txBody>
      </p:sp>
      <p:sp>
        <p:nvSpPr>
          <p:cNvPr id="32" name="TextBox 31"/>
          <p:cNvSpPr txBox="1"/>
          <p:nvPr/>
        </p:nvSpPr>
        <p:spPr>
          <a:xfrm>
            <a:off x="5120640" y="4626864"/>
            <a:ext cx="475488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250" b="0" i="0">
                <a:solidFill>
                  <a:srgbClr val="9AA7B4"/>
                </a:solidFill>
                <a:latin typeface="Calibri"/>
              </a:rPr>
              <a:t>update record, manage assets</a:t>
            </a:r>
          </a:p>
        </p:txBody>
      </p:sp>
      <p:sp>
        <p:nvSpPr>
          <p:cNvPr id="33" name="Rounded Rectangle 32"/>
          <p:cNvSpPr/>
          <p:nvPr/>
        </p:nvSpPr>
        <p:spPr>
          <a:xfrm>
            <a:off x="10104120" y="4681728"/>
            <a:ext cx="1325880" cy="365760"/>
          </a:xfrm>
          <a:prstGeom prst="roundRect">
            <a:avLst/>
          </a:prstGeom>
          <a:noFill/>
          <a:ln w="15875">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4120" y="4700016"/>
            <a:ext cx="1325880" cy="329184"/>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50" b="1" i="0">
                <a:solidFill>
                  <a:srgbClr val="FFB454"/>
                </a:solidFill>
                <a:latin typeface="Calibri"/>
              </a:rPr>
              <a:t>⏸ approval</a:t>
            </a:r>
          </a:p>
        </p:txBody>
      </p:sp>
      <p:sp>
        <p:nvSpPr>
          <p:cNvPr id="35" name="Rounded Rectangle 34"/>
          <p:cNvSpPr/>
          <p:nvPr/>
        </p:nvSpPr>
        <p:spPr>
          <a:xfrm>
            <a:off x="548640" y="5294376"/>
            <a:ext cx="11064240" cy="7132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5294376"/>
            <a:ext cx="640080" cy="713232"/>
          </a:xfrm>
          <a:prstGeom prst="rect">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458968"/>
            <a:ext cx="640080" cy="45720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2200" b="1" i="0">
                <a:solidFill>
                  <a:srgbClr val="FF6B6B"/>
                </a:solidFill>
                <a:latin typeface="Calibri"/>
              </a:rPr>
              <a:t>4</a:t>
            </a:r>
          </a:p>
        </p:txBody>
      </p:sp>
      <p:sp>
        <p:nvSpPr>
          <p:cNvPr id="38" name="TextBox 37"/>
          <p:cNvSpPr txBox="1"/>
          <p:nvPr/>
        </p:nvSpPr>
        <p:spPr>
          <a:xfrm>
            <a:off x="1371600" y="5413248"/>
            <a:ext cx="365760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500" b="1" i="0">
                <a:solidFill>
                  <a:srgbClr val="E6EDF3"/>
                </a:solidFill>
                <a:latin typeface="Calibri"/>
              </a:rPr>
              <a:t>Third-party state change</a:t>
            </a:r>
          </a:p>
        </p:txBody>
      </p:sp>
      <p:sp>
        <p:nvSpPr>
          <p:cNvPr id="39" name="TextBox 38"/>
          <p:cNvSpPr txBox="1"/>
          <p:nvPr/>
        </p:nvSpPr>
        <p:spPr>
          <a:xfrm>
            <a:off x="5120640" y="5413248"/>
            <a:ext cx="4754880" cy="457200"/>
          </a:xfrm>
          <a:prstGeom prst="rect">
            <a:avLst/>
          </a:prstGeom>
          <a:noFill/>
        </p:spPr>
        <p:txBody>
          <a:bodyPr wrap="square" anchor="ctr" lIns="25400" rIns="25400" tIns="25400" bIns="25400">
            <a:spAutoFit/>
          </a:bodyPr>
          <a:lstStyle/>
          <a:p>
            <a:pPr algn="l">
              <a:lnSpc>
                <a:spcPct val="100000"/>
              </a:lnSpc>
              <a:spcBef>
                <a:spcPts val="0"/>
              </a:spcBef>
              <a:spcAft>
                <a:spcPts val="400"/>
              </a:spcAft>
            </a:pPr>
            <a:r>
              <a:rPr sz="1250" b="0" i="0">
                <a:solidFill>
                  <a:srgbClr val="9AA7B4"/>
                </a:solidFill>
                <a:latin typeface="Calibri"/>
              </a:rPr>
              <a:t>block IP, isolate host, disable user</a:t>
            </a:r>
          </a:p>
        </p:txBody>
      </p:sp>
      <p:sp>
        <p:nvSpPr>
          <p:cNvPr id="40" name="Rounded Rectangle 39"/>
          <p:cNvSpPr/>
          <p:nvPr/>
        </p:nvSpPr>
        <p:spPr>
          <a:xfrm>
            <a:off x="10104120" y="5468112"/>
            <a:ext cx="1325880" cy="365760"/>
          </a:xfrm>
          <a:prstGeom prst="roundRect">
            <a:avLst/>
          </a:prstGeom>
          <a:noFill/>
          <a:ln w="15875">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04120" y="5486400"/>
            <a:ext cx="1325880" cy="329184"/>
          </a:xfrm>
          <a:prstGeom prst="rect">
            <a:avLst/>
          </a:prstGeom>
          <a:noFill/>
        </p:spPr>
        <p:txBody>
          <a:bodyPr wrap="square" anchor="ctr" lIns="25400" rIns="25400" tIns="25400" bIns="25400">
            <a:spAutoFit/>
          </a:bodyPr>
          <a:lstStyle/>
          <a:p>
            <a:pPr algn="ctr">
              <a:lnSpc>
                <a:spcPct val="100000"/>
              </a:lnSpc>
              <a:spcBef>
                <a:spcPts val="0"/>
              </a:spcBef>
              <a:spcAft>
                <a:spcPts val="400"/>
              </a:spcAft>
            </a:pPr>
            <a:r>
              <a:rPr sz="1150" b="1" i="0">
                <a:solidFill>
                  <a:srgbClr val="FFB454"/>
                </a:solidFill>
                <a:latin typeface="Calibri"/>
              </a:rPr>
              <a:t>⏸ approval</a:t>
            </a:r>
          </a:p>
        </p:txBody>
      </p:sp>
      <p:sp>
        <p:nvSpPr>
          <p:cNvPr id="42" name="TextBox 41"/>
          <p:cNvSpPr txBox="1"/>
          <p:nvPr/>
        </p:nvSpPr>
        <p:spPr>
          <a:xfrm>
            <a:off x="548640" y="6172200"/>
            <a:ext cx="1115568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E6EDF3"/>
                </a:solidFill>
                <a:latin typeface="Calibri"/>
              </a:rPr>
              <a:t>A tier-≥3 call doesn't ask nicely — it </a:t>
            </a:r>
            <a:r>
              <a:rPr sz="1300" b="0" i="0">
                <a:solidFill>
                  <a:srgbClr val="9AA7B4"/>
                </a:solidFill>
                <a:latin typeface="Calibri"/>
              </a:rPr>
              <a:t>suspends and cannot dispatch until a human decision is carried back in.</a:t>
            </a:r>
          </a:p>
        </p:txBody>
      </p:sp>
      <p:sp>
        <p:nvSpPr>
          <p:cNvPr id="43" name="TextBox 42"/>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44" name="TextBox 43"/>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WOW FACTOR · REACH</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Automate what the SaaS can't even reach</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FortiSOC is cloud. Your highest-value response targets are on-prem and isolated.</a:t>
            </a:r>
          </a:p>
        </p:txBody>
      </p:sp>
      <p:sp>
        <p:nvSpPr>
          <p:cNvPr id="7" name="Rounded Rectangle 6"/>
          <p:cNvSpPr/>
          <p:nvPr/>
        </p:nvSpPr>
        <p:spPr>
          <a:xfrm>
            <a:off x="548640" y="2011680"/>
            <a:ext cx="5394960" cy="182880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493776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FF6B6B"/>
                </a:solidFill>
                <a:latin typeface="Calibri"/>
              </a:rPr>
              <a:t>The reachability gap</a:t>
            </a:r>
          </a:p>
        </p:txBody>
      </p:sp>
      <p:sp>
        <p:nvSpPr>
          <p:cNvPr id="9" name="TextBox 8"/>
          <p:cNvSpPr txBox="1"/>
          <p:nvPr/>
        </p:nvSpPr>
        <p:spPr>
          <a:xfrm>
            <a:off x="777240" y="2542032"/>
            <a:ext cx="4983480" cy="123444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250" b="0" i="0">
                <a:solidFill>
                  <a:srgbClr val="E6EDF3"/>
                </a:solidFill>
                <a:latin typeface="Calibri"/>
              </a:rPr>
              <a:t>The actions that matter most live where the cloud can't go: an </a:t>
            </a:r>
            <a:r>
              <a:rPr sz="1250" b="1" i="0">
                <a:solidFill>
                  <a:srgbClr val="FFB454"/>
                </a:solidFill>
                <a:latin typeface="Calibri"/>
              </a:rPr>
              <a:t>on-prem AD server</a:t>
            </a:r>
            <a:r>
              <a:rPr sz="1250" b="0" i="0">
                <a:solidFill>
                  <a:srgbClr val="E6EDF3"/>
                </a:solidFill>
                <a:latin typeface="Calibri"/>
              </a:rPr>
              <a:t>, an internal firewall, an air-gapped segment. A SaaS analyst that can't reach them can investigate — but can't </a:t>
            </a:r>
            <a:r>
              <a:rPr sz="1250" b="1" i="0">
                <a:solidFill>
                  <a:srgbClr val="FF6B6B"/>
                </a:solidFill>
                <a:latin typeface="Calibri"/>
              </a:rPr>
              <a:t>respond</a:t>
            </a:r>
            <a:r>
              <a:rPr sz="1250" b="0" i="0">
                <a:solidFill>
                  <a:srgbClr val="E6EDF3"/>
                </a:solidFill>
                <a:latin typeface="Calibri"/>
              </a:rPr>
              <a:t>.</a:t>
            </a:r>
          </a:p>
        </p:txBody>
      </p:sp>
      <p:sp>
        <p:nvSpPr>
          <p:cNvPr id="10" name="Rounded Rectangle 9"/>
          <p:cNvSpPr/>
          <p:nvPr/>
        </p:nvSpPr>
        <p:spPr>
          <a:xfrm>
            <a:off x="548640" y="4023360"/>
            <a:ext cx="5394960" cy="2011680"/>
          </a:xfrm>
          <a:prstGeom prst="roundRect">
            <a:avLst/>
          </a:prstGeom>
          <a:solidFill>
            <a:srgbClr val="161C26"/>
          </a:solidFill>
          <a:ln w="1905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160520"/>
            <a:ext cx="493776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3FD99B"/>
                </a:solidFill>
                <a:latin typeface="Calibri"/>
              </a:rPr>
              <a:t>The connector closes it</a:t>
            </a:r>
          </a:p>
        </p:txBody>
      </p:sp>
      <p:sp>
        <p:nvSpPr>
          <p:cNvPr id="12" name="TextBox 11"/>
          <p:cNvSpPr txBox="1"/>
          <p:nvPr/>
        </p:nvSpPr>
        <p:spPr>
          <a:xfrm>
            <a:off x="749808" y="4572000"/>
            <a:ext cx="5029200" cy="4572000"/>
          </a:xfrm>
          <a:prstGeom prst="rect">
            <a:avLst/>
          </a:prstGeom>
          <a:noFill/>
        </p:spPr>
        <p:txBody>
          <a:bodyPr wrap="square" anchor="t" lIns="25400" rIns="25400" tIns="25400" bIns="25400">
            <a:spAutoFit/>
          </a:bodyPr>
          <a:lstStyle/>
          <a:p>
            <a:pPr algn="l">
              <a:lnSpc>
                <a:spcPct val="105000"/>
              </a:lnSpc>
              <a:spcBef>
                <a:spcPts val="0"/>
              </a:spcBef>
              <a:spcAft>
                <a:spcPts val="800"/>
              </a:spcAft>
            </a:pPr>
            <a:r>
              <a:rPr sz="1200" b="1" i="0">
                <a:solidFill>
                  <a:srgbClr val="3FD99B"/>
                </a:solidFill>
                <a:latin typeface="Calibri"/>
              </a:rPr>
              <a:t>▸ </a:t>
            </a:r>
            <a:r>
              <a:rPr sz="1200" b="0" i="0">
                <a:solidFill>
                  <a:srgbClr val="E6EDF3"/>
                </a:solidFill>
                <a:latin typeface="Calibri"/>
              </a:rPr>
              <a:t>Drives actions through the on-prem FSR agent</a:t>
            </a:r>
          </a:p>
          <a:p>
            <a:pPr algn="l">
              <a:lnSpc>
                <a:spcPct val="105000"/>
              </a:lnSpc>
              <a:spcBef>
                <a:spcPts val="0"/>
              </a:spcBef>
              <a:spcAft>
                <a:spcPts val="800"/>
              </a:spcAft>
            </a:pPr>
            <a:r>
              <a:rPr sz="1200" b="1" i="0">
                <a:solidFill>
                  <a:srgbClr val="3FD99B"/>
                </a:solidFill>
                <a:latin typeface="Calibri"/>
              </a:rPr>
              <a:t>▸ </a:t>
            </a:r>
            <a:r>
              <a:rPr sz="1200" b="0" i="0">
                <a:solidFill>
                  <a:srgbClr val="E6EDF3"/>
                </a:solidFill>
                <a:latin typeface="Calibri"/>
              </a:rPr>
              <a:t>Executes locally — disable the AD account, block on the internal firewall</a:t>
            </a:r>
          </a:p>
          <a:p>
            <a:pPr algn="l">
              <a:lnSpc>
                <a:spcPct val="105000"/>
              </a:lnSpc>
              <a:spcBef>
                <a:spcPts val="0"/>
              </a:spcBef>
              <a:spcAft>
                <a:spcPts val="800"/>
              </a:spcAft>
            </a:pPr>
            <a:r>
              <a:rPr sz="1200" b="1" i="0">
                <a:solidFill>
                  <a:srgbClr val="3FD99B"/>
                </a:solidFill>
                <a:latin typeface="Calibri"/>
              </a:rPr>
              <a:t>▸ </a:t>
            </a:r>
            <a:r>
              <a:rPr sz="1200" b="0" i="0">
                <a:solidFill>
                  <a:srgbClr val="E6EDF3"/>
                </a:solidFill>
                <a:latin typeface="Calibri"/>
              </a:rPr>
              <a:t>And gets the real result back to the cloud</a:t>
            </a:r>
          </a:p>
          <a:p>
            <a:pPr algn="l">
              <a:lnSpc>
                <a:spcPct val="105000"/>
              </a:lnSpc>
              <a:spcBef>
                <a:spcPts val="0"/>
              </a:spcBef>
              <a:spcAft>
                <a:spcPts val="800"/>
              </a:spcAft>
            </a:pPr>
            <a:r>
              <a:rPr sz="1200" b="1" i="0">
                <a:solidFill>
                  <a:srgbClr val="3FD99B"/>
                </a:solidFill>
                <a:latin typeface="Calibri"/>
              </a:rPr>
              <a:t>▸ </a:t>
            </a:r>
            <a:r>
              <a:rPr sz="1200" b="0" i="0">
                <a:solidFill>
                  <a:srgbClr val="E6EDF3"/>
                </a:solidFill>
                <a:latin typeface="Calibri"/>
              </a:rPr>
              <a:t>Live-verified on FortiCloud SOAR 7.6.5</a:t>
            </a:r>
          </a:p>
        </p:txBody>
      </p:sp>
      <p:sp>
        <p:nvSpPr>
          <p:cNvPr id="13" name="Rounded Rectangle 12"/>
          <p:cNvSpPr/>
          <p:nvPr/>
        </p:nvSpPr>
        <p:spPr>
          <a:xfrm>
            <a:off x="6172200" y="2011680"/>
            <a:ext cx="5440680" cy="4023360"/>
          </a:xfrm>
          <a:prstGeom prst="roundRect">
            <a:avLst/>
          </a:prstGeom>
          <a:solidFill>
            <a:srgbClr val="0A0E14"/>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121408"/>
            <a:ext cx="507492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1" i="0">
                <a:solidFill>
                  <a:srgbClr val="9AA7B4"/>
                </a:solidFill>
                <a:latin typeface="Consolas"/>
              </a:rPr>
              <a:t>remote execution — the hard part, solved</a:t>
            </a:r>
          </a:p>
        </p:txBody>
      </p:sp>
      <p:sp>
        <p:nvSpPr>
          <p:cNvPr id="15" name="TextBox 14"/>
          <p:cNvSpPr txBox="1"/>
          <p:nvPr/>
        </p:nvSpPr>
        <p:spPr>
          <a:xfrm>
            <a:off x="6373368" y="2432304"/>
            <a:ext cx="5038344" cy="3511296"/>
          </a:xfrm>
          <a:prstGeom prst="rect">
            <a:avLst/>
          </a:prstGeom>
          <a:noFill/>
        </p:spPr>
        <p:txBody>
          <a:bodyPr wrap="square" anchor="t" lIns="25400" rIns="25400" tIns="25400" bIns="25400">
            <a:spAutoFit/>
          </a:bodyPr>
          <a:lstStyle/>
          <a:p>
            <a:pPr algn="l">
              <a:lnSpc>
                <a:spcPct val="104000"/>
              </a:lnSpc>
              <a:spcBef>
                <a:spcPts val="0"/>
              </a:spcBef>
              <a:spcAft>
                <a:spcPts val="200"/>
              </a:spcAft>
            </a:pPr>
            <a:r>
              <a:rPr sz="1050" b="0" i="0">
                <a:solidFill>
                  <a:srgbClr val="9AA7B4"/>
                </a:solidFill>
                <a:latin typeface="Consolas"/>
              </a:rPr>
              <a:t># target is behind an on-prem agent</a:t>
            </a:r>
          </a:p>
          <a:p>
            <a:pPr algn="l">
              <a:lnSpc>
                <a:spcPct val="104000"/>
              </a:lnSpc>
              <a:spcBef>
                <a:spcPts val="0"/>
              </a:spcBef>
              <a:spcAft>
                <a:spcPts val="200"/>
              </a:spcAft>
            </a:pPr>
            <a:r>
              <a:rPr sz="1050" b="0" i="0">
                <a:solidFill>
                  <a:srgbClr val="9AA7B4"/>
                </a:solidFill>
                <a:latin typeface="Consolas"/>
              </a:rPr>
              <a:t># (fire-and-forget by design)</a:t>
            </a:r>
          </a:p>
          <a:p>
            <a:pPr algn="l">
              <a:lnSpc>
                <a:spcPct val="104000"/>
              </a:lnSpc>
              <a:spcBef>
                <a:spcPts val="0"/>
              </a:spcBef>
              <a:spcAft>
                <a:spcPts val="200"/>
              </a:spcAft>
            </a:pPr>
            <a:r>
              <a:rPr sz="1150" b="0" i="0">
                <a:solidFill>
                  <a:srgbClr val="4C9AFF"/>
                </a:solidFill>
                <a:latin typeface="Consolas"/>
              </a:rPr>
              <a:t>if config in agent_bound_configs:</a:t>
            </a:r>
          </a:p>
          <a:p>
            <a:pPr algn="l">
              <a:lnSpc>
                <a:spcPct val="104000"/>
              </a:lnSpc>
              <a:spcBef>
                <a:spcPts val="0"/>
              </a:spcBef>
              <a:spcAft>
                <a:spcPts val="200"/>
              </a:spcAft>
            </a:pPr>
            <a:r>
              <a:rPr sz="400" b="0" i="0">
                <a:solidFill>
                  <a:srgbClr val="E6EDF3"/>
                </a:solidFill>
                <a:latin typeface="Consolas"/>
              </a:rPr>
              <a:t/>
            </a:r>
          </a:p>
          <a:p>
            <a:pPr algn="l">
              <a:lnSpc>
                <a:spcPct val="104000"/>
              </a:lnSpc>
              <a:spcBef>
                <a:spcPts val="0"/>
              </a:spcBef>
              <a:spcAft>
                <a:spcPts val="200"/>
              </a:spcAft>
            </a:pPr>
            <a:r>
              <a:rPr sz="1050" b="0" i="0">
                <a:solidFill>
                  <a:srgbClr val="9AA7B4"/>
                </a:solidFill>
                <a:latin typeface="Consolas"/>
              </a:rPr>
              <a:t>  # run it as a 1-shot workflow</a:t>
            </a:r>
          </a:p>
          <a:p>
            <a:pPr algn="l">
              <a:lnSpc>
                <a:spcPct val="104000"/>
              </a:lnSpc>
              <a:spcBef>
                <a:spcPts val="0"/>
              </a:spcBef>
              <a:spcAft>
                <a:spcPts val="200"/>
              </a:spcAft>
            </a:pPr>
            <a:r>
              <a:rPr sz="1150" b="1" i="0">
                <a:solidFill>
                  <a:srgbClr val="FFB454"/>
                </a:solidFill>
                <a:latin typeface="Consolas"/>
              </a:rPr>
              <a:t>  [ disable_ad_user ]</a:t>
            </a:r>
          </a:p>
          <a:p>
            <a:pPr algn="l">
              <a:lnSpc>
                <a:spcPct val="104000"/>
              </a:lnSpc>
              <a:spcBef>
                <a:spcPts val="0"/>
              </a:spcBef>
              <a:spcAft>
                <a:spcPts val="200"/>
              </a:spcAft>
            </a:pPr>
            <a:r>
              <a:rPr sz="1150" b="0" i="0">
                <a:solidFill>
                  <a:srgbClr val="E6EDF3"/>
                </a:solidFill>
                <a:latin typeface="Consolas"/>
              </a:rPr>
              <a:t>  [ force-fail to persist result ]</a:t>
            </a:r>
          </a:p>
          <a:p>
            <a:pPr algn="l">
              <a:lnSpc>
                <a:spcPct val="104000"/>
              </a:lnSpc>
              <a:spcBef>
                <a:spcPts val="0"/>
              </a:spcBef>
              <a:spcAft>
                <a:spcPts val="200"/>
              </a:spcAft>
            </a:pPr>
            <a:r>
              <a:rPr sz="400" b="0" i="0">
                <a:solidFill>
                  <a:srgbClr val="E6EDF3"/>
                </a:solidFill>
                <a:latin typeface="Consolas"/>
              </a:rPr>
              <a:t/>
            </a:r>
          </a:p>
          <a:p>
            <a:pPr algn="l">
              <a:lnSpc>
                <a:spcPct val="104000"/>
              </a:lnSpc>
              <a:spcBef>
                <a:spcPts val="0"/>
              </a:spcBef>
              <a:spcAft>
                <a:spcPts val="200"/>
              </a:spcAft>
            </a:pPr>
            <a:r>
              <a:rPr sz="1150" b="0" i="0">
                <a:solidFill>
                  <a:srgbClr val="E6EDF3"/>
                </a:solidFill>
                <a:latin typeface="Consolas"/>
              </a:rPr>
              <a:t>  push · priority:High · trigger</a:t>
            </a:r>
          </a:p>
          <a:p>
            <a:pPr algn="l">
              <a:lnSpc>
                <a:spcPct val="104000"/>
              </a:lnSpc>
              <a:spcBef>
                <a:spcPts val="0"/>
              </a:spcBef>
              <a:spcAft>
                <a:spcPts val="200"/>
              </a:spcAft>
            </a:pPr>
            <a:r>
              <a:rPr sz="1150" b="0" i="0">
                <a:solidFill>
                  <a:srgbClr val="4C9AFF"/>
                </a:solidFill>
                <a:latin typeface="Consolas"/>
              </a:rPr>
              <a:t>  poll → read the step result</a:t>
            </a:r>
          </a:p>
          <a:p>
            <a:pPr algn="l">
              <a:lnSpc>
                <a:spcPct val="104000"/>
              </a:lnSpc>
              <a:spcBef>
                <a:spcPts val="0"/>
              </a:spcBef>
              <a:spcAft>
                <a:spcPts val="200"/>
              </a:spcAft>
            </a:pPr>
            <a:r>
              <a:rPr sz="1150" b="0" i="0">
                <a:solidFill>
                  <a:srgbClr val="3FD99B"/>
                </a:solidFill>
                <a:latin typeface="Consolas"/>
              </a:rPr>
              <a:t>  return {ok, data} to the cloud</a:t>
            </a:r>
          </a:p>
          <a:p>
            <a:pPr algn="l">
              <a:lnSpc>
                <a:spcPct val="104000"/>
              </a:lnSpc>
              <a:spcBef>
                <a:spcPts val="0"/>
              </a:spcBef>
              <a:spcAft>
                <a:spcPts val="200"/>
              </a:spcAft>
            </a:pPr>
            <a:r>
              <a:rPr sz="400" b="0" i="0">
                <a:solidFill>
                  <a:srgbClr val="E6EDF3"/>
                </a:solidFill>
                <a:latin typeface="Consolas"/>
              </a:rPr>
              <a:t/>
            </a:r>
          </a:p>
          <a:p>
            <a:pPr algn="l">
              <a:lnSpc>
                <a:spcPct val="104000"/>
              </a:lnSpc>
              <a:spcBef>
                <a:spcPts val="0"/>
              </a:spcBef>
              <a:spcAft>
                <a:spcPts val="200"/>
              </a:spcAft>
            </a:pPr>
            <a:r>
              <a:rPr sz="1050" b="0" i="0">
                <a:solidFill>
                  <a:srgbClr val="3FD99B"/>
                </a:solidFill>
                <a:latin typeface="Consolas"/>
              </a:rPr>
              <a:t># the op runs exactly once</a:t>
            </a:r>
          </a:p>
        </p:txBody>
      </p:sp>
      <p:sp>
        <p:nvSpPr>
          <p:cNvPr id="16" name="TextBox 15"/>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17" name="TextBox 16"/>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GUARDRAILS</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Determinism comes from code, not vibes</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Each guardrail is a mechanism in the loop with a unit test behind it</a:t>
            </a:r>
          </a:p>
        </p:txBody>
      </p:sp>
      <p:sp>
        <p:nvSpPr>
          <p:cNvPr id="7" name="Rounded Rectangle 6"/>
          <p:cNvSpPr/>
          <p:nvPr/>
        </p:nvSpPr>
        <p:spPr>
          <a:xfrm>
            <a:off x="548640" y="2057400"/>
            <a:ext cx="5440680" cy="11704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85416"/>
            <a:ext cx="50292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Forced assessment</a:t>
            </a:r>
          </a:p>
        </p:txBody>
      </p:sp>
      <p:sp>
        <p:nvSpPr>
          <p:cNvPr id="9" name="TextBox 8"/>
          <p:cNvSpPr txBox="1"/>
          <p:nvPr/>
        </p:nvSpPr>
        <p:spPr>
          <a:xfrm>
            <a:off x="749808" y="2514600"/>
            <a:ext cx="5074920" cy="640080"/>
          </a:xfrm>
          <a:prstGeom prst="rect">
            <a:avLst/>
          </a:prstGeom>
          <a:noFill/>
        </p:spPr>
        <p:txBody>
          <a:bodyPr wrap="square" anchor="t" lIns="25400" rIns="25400" tIns="25400" bIns="25400">
            <a:spAutoFit/>
          </a:bodyPr>
          <a:lstStyle/>
          <a:p>
            <a:pPr algn="l">
              <a:lnSpc>
                <a:spcPct val="104000"/>
              </a:lnSpc>
              <a:spcBef>
                <a:spcPts val="0"/>
              </a:spcBef>
              <a:spcAft>
                <a:spcPts val="400"/>
              </a:spcAft>
            </a:pPr>
            <a:r>
              <a:rPr sz="1150" b="0" i="0">
                <a:solidFill>
                  <a:srgbClr val="9AA7B4"/>
                </a:solidFill>
                <a:latin typeface="Calibri"/>
              </a:rPr>
              <a:t>Tool-only turn with no closing text → one forced summary round. Every investigation ends with a verdict + next action.</a:t>
            </a:r>
          </a:p>
        </p:txBody>
      </p:sp>
      <p:sp>
        <p:nvSpPr>
          <p:cNvPr id="10" name="Rounded Rectangle 9"/>
          <p:cNvSpPr/>
          <p:nvPr/>
        </p:nvSpPr>
        <p:spPr>
          <a:xfrm>
            <a:off x="6172200" y="2057400"/>
            <a:ext cx="5440680" cy="11704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2185416"/>
            <a:ext cx="50292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Repeated-error guard</a:t>
            </a:r>
          </a:p>
        </p:txBody>
      </p:sp>
      <p:sp>
        <p:nvSpPr>
          <p:cNvPr id="12" name="TextBox 11"/>
          <p:cNvSpPr txBox="1"/>
          <p:nvPr/>
        </p:nvSpPr>
        <p:spPr>
          <a:xfrm>
            <a:off x="6373368" y="2514600"/>
            <a:ext cx="5074920" cy="640080"/>
          </a:xfrm>
          <a:prstGeom prst="rect">
            <a:avLst/>
          </a:prstGeom>
          <a:noFill/>
        </p:spPr>
        <p:txBody>
          <a:bodyPr wrap="square" anchor="t" lIns="25400" rIns="25400" tIns="25400" bIns="25400">
            <a:spAutoFit/>
          </a:bodyPr>
          <a:lstStyle/>
          <a:p>
            <a:pPr algn="l">
              <a:lnSpc>
                <a:spcPct val="104000"/>
              </a:lnSpc>
              <a:spcBef>
                <a:spcPts val="0"/>
              </a:spcBef>
              <a:spcAft>
                <a:spcPts val="400"/>
              </a:spcAft>
            </a:pPr>
            <a:r>
              <a:rPr sz="1150" b="0" i="0">
                <a:solidFill>
                  <a:srgbClr val="9AA7B4"/>
                </a:solidFill>
                <a:latin typeface="Calibri"/>
              </a:rPr>
              <a:t>An identical call that already failed won't re-run — no loops, no budget burn.</a:t>
            </a:r>
          </a:p>
        </p:txBody>
      </p:sp>
      <p:sp>
        <p:nvSpPr>
          <p:cNvPr id="13" name="Rounded Rectangle 12"/>
          <p:cNvSpPr/>
          <p:nvPr/>
        </p:nvSpPr>
        <p:spPr>
          <a:xfrm>
            <a:off x="548640" y="3355848"/>
            <a:ext cx="5440680" cy="11704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483864"/>
            <a:ext cx="50292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Error classification</a:t>
            </a:r>
          </a:p>
        </p:txBody>
      </p:sp>
      <p:sp>
        <p:nvSpPr>
          <p:cNvPr id="15" name="TextBox 14"/>
          <p:cNvSpPr txBox="1"/>
          <p:nvPr/>
        </p:nvSpPr>
        <p:spPr>
          <a:xfrm>
            <a:off x="749808" y="3813048"/>
            <a:ext cx="5074920" cy="640080"/>
          </a:xfrm>
          <a:prstGeom prst="rect">
            <a:avLst/>
          </a:prstGeom>
          <a:noFill/>
        </p:spPr>
        <p:txBody>
          <a:bodyPr wrap="square" anchor="t" lIns="25400" rIns="25400" tIns="25400" bIns="25400">
            <a:spAutoFit/>
          </a:bodyPr>
          <a:lstStyle/>
          <a:p>
            <a:pPr algn="l">
              <a:lnSpc>
                <a:spcPct val="104000"/>
              </a:lnSpc>
              <a:spcBef>
                <a:spcPts val="0"/>
              </a:spcBef>
              <a:spcAft>
                <a:spcPts val="400"/>
              </a:spcAft>
            </a:pPr>
            <a:r>
              <a:rPr sz="1150" b="0" i="0">
                <a:solidFill>
                  <a:srgbClr val="9AA7B4"/>
                </a:solidFill>
                <a:latin typeface="Calibri"/>
              </a:rPr>
              <a:t>A rejected request ('fix your params') is told apart from a real outage ('check connectivity').</a:t>
            </a:r>
          </a:p>
        </p:txBody>
      </p:sp>
      <p:sp>
        <p:nvSpPr>
          <p:cNvPr id="16" name="Rounded Rectangle 15"/>
          <p:cNvSpPr/>
          <p:nvPr/>
        </p:nvSpPr>
        <p:spPr>
          <a:xfrm>
            <a:off x="6172200" y="3355848"/>
            <a:ext cx="5440680" cy="11704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3483864"/>
            <a:ext cx="50292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Low-signal gate</a:t>
            </a:r>
          </a:p>
        </p:txBody>
      </p:sp>
      <p:sp>
        <p:nvSpPr>
          <p:cNvPr id="18" name="TextBox 17"/>
          <p:cNvSpPr txBox="1"/>
          <p:nvPr/>
        </p:nvSpPr>
        <p:spPr>
          <a:xfrm>
            <a:off x="6373368" y="3813048"/>
            <a:ext cx="5074920" cy="640080"/>
          </a:xfrm>
          <a:prstGeom prst="rect">
            <a:avLst/>
          </a:prstGeom>
          <a:noFill/>
        </p:spPr>
        <p:txBody>
          <a:bodyPr wrap="square" anchor="t" lIns="25400" rIns="25400" tIns="25400" bIns="25400">
            <a:spAutoFit/>
          </a:bodyPr>
          <a:lstStyle/>
          <a:p>
            <a:pPr algn="l">
              <a:lnSpc>
                <a:spcPct val="104000"/>
              </a:lnSpc>
              <a:spcBef>
                <a:spcPts val="0"/>
              </a:spcBef>
              <a:spcAft>
                <a:spcPts val="400"/>
              </a:spcAft>
            </a:pPr>
            <a:r>
              <a:rPr sz="1150" b="0" i="0">
                <a:solidFill>
                  <a:srgbClr val="9AA7B4"/>
                </a:solidFill>
                <a:latin typeface="Calibri"/>
              </a:rPr>
              <a:t>'hi' / 'test' won't trigger an autonomous investigation. Intent is classified first.</a:t>
            </a:r>
          </a:p>
        </p:txBody>
      </p:sp>
      <p:sp>
        <p:nvSpPr>
          <p:cNvPr id="19" name="Rounded Rectangle 18"/>
          <p:cNvSpPr/>
          <p:nvPr/>
        </p:nvSpPr>
        <p:spPr>
          <a:xfrm>
            <a:off x="548640" y="4654296"/>
            <a:ext cx="5440680" cy="11704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782312"/>
            <a:ext cx="50292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Conditional-required</a:t>
            </a:r>
          </a:p>
        </p:txBody>
      </p:sp>
      <p:sp>
        <p:nvSpPr>
          <p:cNvPr id="21" name="TextBox 20"/>
          <p:cNvSpPr txBox="1"/>
          <p:nvPr/>
        </p:nvSpPr>
        <p:spPr>
          <a:xfrm>
            <a:off x="749808" y="5111496"/>
            <a:ext cx="5074920" cy="640080"/>
          </a:xfrm>
          <a:prstGeom prst="rect">
            <a:avLst/>
          </a:prstGeom>
          <a:noFill/>
        </p:spPr>
        <p:txBody>
          <a:bodyPr wrap="square" anchor="t" lIns="25400" rIns="25400" tIns="25400" bIns="25400">
            <a:spAutoFit/>
          </a:bodyPr>
          <a:lstStyle/>
          <a:p>
            <a:pPr algn="l">
              <a:lnSpc>
                <a:spcPct val="104000"/>
              </a:lnSpc>
              <a:spcBef>
                <a:spcPts val="0"/>
              </a:spcBef>
              <a:spcAft>
                <a:spcPts val="400"/>
              </a:spcAft>
            </a:pPr>
            <a:r>
              <a:rPr sz="1150" b="0" i="0">
                <a:solidFill>
                  <a:srgbClr val="9AA7B4"/>
                </a:solidFill>
                <a:latin typeface="Calibri"/>
              </a:rPr>
              <a:t>A branch choice that activates nested required fields is validated — no silently-missing inputs.</a:t>
            </a:r>
          </a:p>
        </p:txBody>
      </p:sp>
      <p:sp>
        <p:nvSpPr>
          <p:cNvPr id="22" name="Rounded Rectangle 21"/>
          <p:cNvSpPr/>
          <p:nvPr/>
        </p:nvSpPr>
        <p:spPr>
          <a:xfrm>
            <a:off x="6172200" y="4654296"/>
            <a:ext cx="5440680" cy="1170432"/>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4782312"/>
            <a:ext cx="50292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Healthcheck cache</a:t>
            </a:r>
          </a:p>
        </p:txBody>
      </p:sp>
      <p:sp>
        <p:nvSpPr>
          <p:cNvPr id="24" name="TextBox 23"/>
          <p:cNvSpPr txBox="1"/>
          <p:nvPr/>
        </p:nvSpPr>
        <p:spPr>
          <a:xfrm>
            <a:off x="6373368" y="5111496"/>
            <a:ext cx="5074920" cy="640080"/>
          </a:xfrm>
          <a:prstGeom prst="rect">
            <a:avLst/>
          </a:prstGeom>
          <a:noFill/>
        </p:spPr>
        <p:txBody>
          <a:bodyPr wrap="square" anchor="t" lIns="25400" rIns="25400" tIns="25400" bIns="25400">
            <a:spAutoFit/>
          </a:bodyPr>
          <a:lstStyle/>
          <a:p>
            <a:pPr algn="l">
              <a:lnSpc>
                <a:spcPct val="104000"/>
              </a:lnSpc>
              <a:spcBef>
                <a:spcPts val="0"/>
              </a:spcBef>
              <a:spcAft>
                <a:spcPts val="400"/>
              </a:spcAft>
            </a:pPr>
            <a:r>
              <a:rPr sz="1150" b="0" i="0">
                <a:solidFill>
                  <a:srgbClr val="9AA7B4"/>
                </a:solidFill>
                <a:latin typeface="Calibri"/>
              </a:rPr>
              <a:t>Connector health is cached (hours when healthy), so the agent isn't re-probing the stack.</a:t>
            </a:r>
          </a:p>
        </p:txBody>
      </p:sp>
      <p:sp>
        <p:nvSpPr>
          <p:cNvPr id="25" name="TextBox 24"/>
          <p:cNvSpPr txBox="1"/>
          <p:nvPr/>
        </p:nvSpPr>
        <p:spPr>
          <a:xfrm>
            <a:off x="548640" y="6080760"/>
            <a:ext cx="1115568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3FD99B"/>
                </a:solidFill>
                <a:latin typeface="Calibri"/>
              </a:rPr>
              <a:t>Six of these ship today, </a:t>
            </a:r>
            <a:r>
              <a:rPr sz="1300" b="0" i="0">
                <a:solidFill>
                  <a:srgbClr val="9AA7B4"/>
                </a:solidFill>
                <a:latin typeface="Calibri"/>
              </a:rPr>
              <a:t>each with its own unit test — the loop behaves the same way on run #1 and run #1000.</a:t>
            </a:r>
          </a:p>
        </p:txBody>
      </p:sp>
      <p:sp>
        <p:nvSpPr>
          <p:cNvPr id="26" name="TextBox 25"/>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27" name="TextBox 26"/>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THE WOW FACTOR</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Bottle the moment of genius</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Use AI to find the pattern once. Run it as a playbook forever — no AI in the loop.</a:t>
            </a:r>
          </a:p>
        </p:txBody>
      </p:sp>
      <p:sp>
        <p:nvSpPr>
          <p:cNvPr id="7" name="Rounded Rectangle 6"/>
          <p:cNvSpPr/>
          <p:nvPr/>
        </p:nvSpPr>
        <p:spPr>
          <a:xfrm>
            <a:off x="548640" y="2011680"/>
            <a:ext cx="5440680" cy="3977639"/>
          </a:xfrm>
          <a:prstGeom prst="roundRect">
            <a:avLst/>
          </a:prstGeom>
          <a:solidFill>
            <a:srgbClr val="161C26"/>
          </a:solidFill>
          <a:ln w="1905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76272"/>
            <a:ext cx="5029200" cy="41148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3FD99B"/>
                </a:solidFill>
                <a:latin typeface="Calibri"/>
              </a:rPr>
              <a:t>Why this changes the game</a:t>
            </a:r>
          </a:p>
        </p:txBody>
      </p:sp>
      <p:sp>
        <p:nvSpPr>
          <p:cNvPr id="9" name="TextBox 8"/>
          <p:cNvSpPr txBox="1"/>
          <p:nvPr/>
        </p:nvSpPr>
        <p:spPr>
          <a:xfrm>
            <a:off x="749808" y="2697480"/>
            <a:ext cx="5074920" cy="4572000"/>
          </a:xfrm>
          <a:prstGeom prst="rect">
            <a:avLst/>
          </a:prstGeom>
          <a:noFill/>
        </p:spPr>
        <p:txBody>
          <a:bodyPr wrap="square" anchor="t" lIns="25400" rIns="25400" tIns="25400" bIns="25400">
            <a:spAutoFit/>
          </a:bodyPr>
          <a:lstStyle/>
          <a:p>
            <a:pPr algn="l">
              <a:lnSpc>
                <a:spcPct val="105000"/>
              </a:lnSpc>
              <a:spcBef>
                <a:spcPts val="0"/>
              </a:spcBef>
              <a:spcAft>
                <a:spcPts val="1100"/>
              </a:spcAft>
            </a:pPr>
            <a:r>
              <a:rPr sz="1250" b="1" i="0">
                <a:solidFill>
                  <a:srgbClr val="3FD99B"/>
                </a:solidFill>
                <a:latin typeface="Calibri"/>
              </a:rPr>
              <a:t>▸ </a:t>
            </a:r>
            <a:r>
              <a:rPr sz="1250" b="1" i="0">
                <a:solidFill>
                  <a:srgbClr val="E6EDF3"/>
                </a:solidFill>
                <a:latin typeface="Calibri"/>
              </a:rPr>
              <a:t>AI explores faster than people  </a:t>
            </a:r>
            <a:r>
              <a:rPr sz="1250" b="0" i="0">
                <a:solidFill>
                  <a:srgbClr val="9AA7B4"/>
                </a:solidFill>
                <a:latin typeface="Calibri"/>
              </a:rPr>
              <a:t>tries query patterns, pivots, experiments with API calls in seconds.</a:t>
            </a:r>
          </a:p>
          <a:p>
            <a:pPr algn="l">
              <a:lnSpc>
                <a:spcPct val="105000"/>
              </a:lnSpc>
              <a:spcBef>
                <a:spcPts val="0"/>
              </a:spcBef>
              <a:spcAft>
                <a:spcPts val="1100"/>
              </a:spcAft>
            </a:pPr>
            <a:r>
              <a:rPr sz="1250" b="1" i="0">
                <a:solidFill>
                  <a:srgbClr val="3FD99B"/>
                </a:solidFill>
                <a:latin typeface="Calibri"/>
              </a:rPr>
              <a:t>▸ </a:t>
            </a:r>
            <a:r>
              <a:rPr sz="1250" b="1" i="0">
                <a:solidFill>
                  <a:srgbClr val="E6EDF3"/>
                </a:solidFill>
                <a:latin typeface="Calibri"/>
              </a:rPr>
              <a:t>But you shouldn't run it live forever  </a:t>
            </a:r>
            <a:r>
              <a:rPr sz="1250" b="0" i="0">
                <a:solidFill>
                  <a:srgbClr val="9AA7B4"/>
                </a:solidFill>
                <a:latin typeface="Calibri"/>
              </a:rPr>
              <a:t>cost, latency, and non-determinism don't belong in steady-state ops.</a:t>
            </a:r>
          </a:p>
          <a:p>
            <a:pPr algn="l">
              <a:lnSpc>
                <a:spcPct val="105000"/>
              </a:lnSpc>
              <a:spcBef>
                <a:spcPts val="0"/>
              </a:spcBef>
              <a:spcAft>
                <a:spcPts val="1100"/>
              </a:spcAft>
            </a:pPr>
            <a:r>
              <a:rPr sz="1250" b="1" i="0">
                <a:solidFill>
                  <a:srgbClr val="3FD99B"/>
                </a:solidFill>
                <a:latin typeface="Calibri"/>
              </a:rPr>
              <a:t>▸ </a:t>
            </a:r>
            <a:r>
              <a:rPr sz="1250" b="1" i="0">
                <a:solidFill>
                  <a:srgbClr val="E6EDF3"/>
                </a:solidFill>
                <a:latin typeface="Calibri"/>
              </a:rPr>
              <a:t>So we capture the winning run  </a:t>
            </a:r>
            <a:r>
              <a:rPr sz="1250" b="0" i="0">
                <a:solidFill>
                  <a:srgbClr val="9AA7B4"/>
                </a:solidFill>
                <a:latin typeface="Calibri"/>
              </a:rPr>
              <a:t>every recorded tool call becomes a playbook step — automatically.</a:t>
            </a:r>
          </a:p>
          <a:p>
            <a:pPr algn="l">
              <a:lnSpc>
                <a:spcPct val="105000"/>
              </a:lnSpc>
              <a:spcBef>
                <a:spcPts val="0"/>
              </a:spcBef>
              <a:spcAft>
                <a:spcPts val="1100"/>
              </a:spcAft>
            </a:pPr>
            <a:r>
              <a:rPr sz="1250" b="1" i="0">
                <a:solidFill>
                  <a:srgbClr val="3FD99B"/>
                </a:solidFill>
                <a:latin typeface="Calibri"/>
              </a:rPr>
              <a:t>▸ </a:t>
            </a:r>
            <a:r>
              <a:rPr sz="1250" b="1" i="0">
                <a:solidFill>
                  <a:srgbClr val="E6EDF3"/>
                </a:solidFill>
                <a:latin typeface="Calibri"/>
              </a:rPr>
              <a:t>The exploration happens once  </a:t>
            </a:r>
            <a:r>
              <a:rPr sz="1250" b="0" i="0">
                <a:solidFill>
                  <a:srgbClr val="9AA7B4"/>
                </a:solidFill>
                <a:latin typeface="Calibri"/>
              </a:rPr>
              <a:t>the playbook runs consistently, free, every time, by any analyst.</a:t>
            </a:r>
          </a:p>
        </p:txBody>
      </p:sp>
      <p:sp>
        <p:nvSpPr>
          <p:cNvPr id="10" name="Rounded Rectangle 9"/>
          <p:cNvSpPr/>
          <p:nvPr/>
        </p:nvSpPr>
        <p:spPr>
          <a:xfrm>
            <a:off x="6199632" y="2011680"/>
            <a:ext cx="5440680" cy="1874519"/>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48840"/>
            <a:ext cx="5029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Discover the pattern (AI, once)</a:t>
            </a:r>
          </a:p>
        </p:txBody>
      </p:sp>
      <p:sp>
        <p:nvSpPr>
          <p:cNvPr id="12" name="TextBox 11"/>
          <p:cNvSpPr txBox="1"/>
          <p:nvPr/>
        </p:nvSpPr>
        <p:spPr>
          <a:xfrm>
            <a:off x="6400800" y="2514600"/>
            <a:ext cx="5029200" cy="1280160"/>
          </a:xfrm>
          <a:prstGeom prst="rect">
            <a:avLst/>
          </a:prstGeom>
          <a:noFill/>
        </p:spPr>
        <p:txBody>
          <a:bodyPr wrap="square" anchor="t" lIns="25400" rIns="25400" tIns="25400" bIns="25400">
            <a:spAutoFit/>
          </a:bodyPr>
          <a:lstStyle/>
          <a:p>
            <a:pPr algn="l">
              <a:lnSpc>
                <a:spcPct val="108000"/>
              </a:lnSpc>
              <a:spcBef>
                <a:spcPts val="0"/>
              </a:spcBef>
              <a:spcAft>
                <a:spcPts val="400"/>
              </a:spcAft>
            </a:pPr>
            <a:r>
              <a:rPr sz="1150" b="0" i="0">
                <a:solidFill>
                  <a:srgbClr val="9AA7B4"/>
                </a:solidFill>
                <a:latin typeface="Calibri"/>
              </a:rPr>
              <a:t>The agent investigates a novel threat — hunts in SIEM, enriches the indicators, confirms the verdict, stages the block. A real </a:t>
            </a:r>
            <a:r>
              <a:rPr sz="1150" b="1" i="0">
                <a:solidFill>
                  <a:srgbClr val="E6EDF3"/>
                </a:solidFill>
                <a:latin typeface="Calibri"/>
              </a:rPr>
              <a:t>act of investigative reasoning.</a:t>
            </a:r>
          </a:p>
        </p:txBody>
      </p:sp>
      <p:sp>
        <p:nvSpPr>
          <p:cNvPr id="13" name="TextBox 12"/>
          <p:cNvSpPr txBox="1"/>
          <p:nvPr/>
        </p:nvSpPr>
        <p:spPr>
          <a:xfrm>
            <a:off x="8595360" y="3977639"/>
            <a:ext cx="5486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200" b="1" i="0">
                <a:solidFill>
                  <a:srgbClr val="3FD99B"/>
                </a:solidFill>
                <a:latin typeface="Calibri"/>
              </a:rPr>
              <a:t>↓</a:t>
            </a:r>
          </a:p>
        </p:txBody>
      </p:sp>
      <p:sp>
        <p:nvSpPr>
          <p:cNvPr id="14" name="Rounded Rectangle 13"/>
          <p:cNvSpPr/>
          <p:nvPr/>
        </p:nvSpPr>
        <p:spPr>
          <a:xfrm>
            <a:off x="6199632" y="4434840"/>
            <a:ext cx="5440680" cy="1554480"/>
          </a:xfrm>
          <a:prstGeom prst="roundRect">
            <a:avLst/>
          </a:prstGeom>
          <a:solidFill>
            <a:srgbClr val="161C26"/>
          </a:solid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72000"/>
            <a:ext cx="5029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3FD99B"/>
                </a:solidFill>
                <a:latin typeface="Calibri"/>
              </a:rPr>
              <a:t>Run the pattern (anyone, forever)</a:t>
            </a:r>
          </a:p>
        </p:txBody>
      </p:sp>
      <p:sp>
        <p:nvSpPr>
          <p:cNvPr id="16" name="TextBox 15"/>
          <p:cNvSpPr txBox="1"/>
          <p:nvPr/>
        </p:nvSpPr>
        <p:spPr>
          <a:xfrm>
            <a:off x="6400800" y="4937760"/>
            <a:ext cx="5029200" cy="1005840"/>
          </a:xfrm>
          <a:prstGeom prst="rect">
            <a:avLst/>
          </a:prstGeom>
          <a:noFill/>
        </p:spPr>
        <p:txBody>
          <a:bodyPr wrap="square" anchor="t" lIns="25400" rIns="25400" tIns="25400" bIns="25400">
            <a:spAutoFit/>
          </a:bodyPr>
          <a:lstStyle/>
          <a:p>
            <a:pPr algn="l">
              <a:lnSpc>
                <a:spcPct val="108000"/>
              </a:lnSpc>
              <a:spcBef>
                <a:spcPts val="0"/>
              </a:spcBef>
              <a:spcAft>
                <a:spcPts val="400"/>
              </a:spcAft>
            </a:pPr>
            <a:r>
              <a:rPr sz="1150" b="0" i="0">
                <a:solidFill>
                  <a:srgbClr val="9AA7B4"/>
                </a:solidFill>
                <a:latin typeface="Calibri"/>
              </a:rPr>
              <a:t>That exact investigation is compiled into a deterministic playbook. Wiring derived from the </a:t>
            </a:r>
            <a:r>
              <a:rPr sz="1150" b="1" i="0">
                <a:solidFill>
                  <a:srgbClr val="E6EDF3"/>
                </a:solidFill>
                <a:latin typeface="Calibri"/>
              </a:rPr>
              <a:t>real values it observed</a:t>
            </a:r>
            <a:r>
              <a:rPr sz="1150" b="0" i="0">
                <a:solidFill>
                  <a:srgbClr val="9AA7B4"/>
                </a:solidFill>
                <a:latin typeface="Calibri"/>
              </a:rPr>
              <a:t> — not guessed. Verified, then offered to save.</a:t>
            </a:r>
          </a:p>
        </p:txBody>
      </p:sp>
      <p:sp>
        <p:nvSpPr>
          <p:cNvPr id="17" name="TextBox 16"/>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18" name="TextBox 17"/>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END TO END · C2 ALERT</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wendy.smith / smithDesktop → 102.220.160.21 (NG)</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7ogger.exe · Exfiltration over C2 — what the analyst actually sees</a:t>
            </a:r>
          </a:p>
        </p:txBody>
      </p:sp>
      <p:sp>
        <p:nvSpPr>
          <p:cNvPr id="7" name="Rounded Rectangle 6"/>
          <p:cNvSpPr/>
          <p:nvPr/>
        </p:nvSpPr>
        <p:spPr>
          <a:xfrm>
            <a:off x="548640" y="2057400"/>
            <a:ext cx="502920" cy="658368"/>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85416"/>
            <a:ext cx="50292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600" b="1" i="0">
                <a:solidFill>
                  <a:srgbClr val="4C9AFF"/>
                </a:solidFill>
                <a:latin typeface="Calibri"/>
              </a:rPr>
              <a:t>A</a:t>
            </a:r>
          </a:p>
        </p:txBody>
      </p:sp>
      <p:sp>
        <p:nvSpPr>
          <p:cNvPr id="9" name="Rounded Rectangle 8"/>
          <p:cNvSpPr/>
          <p:nvPr/>
        </p:nvSpPr>
        <p:spPr>
          <a:xfrm>
            <a:off x="1234440" y="2057400"/>
            <a:ext cx="1037844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2148840"/>
            <a:ext cx="100584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Open the alert</a:t>
            </a:r>
          </a:p>
        </p:txBody>
      </p:sp>
      <p:sp>
        <p:nvSpPr>
          <p:cNvPr id="11" name="TextBox 10"/>
          <p:cNvSpPr txBox="1"/>
          <p:nvPr/>
        </p:nvSpPr>
        <p:spPr>
          <a:xfrm>
            <a:off x="1463040" y="2441448"/>
            <a:ext cx="10058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the chat is already grounded in the normalized indicators — no prompt to write</a:t>
            </a:r>
          </a:p>
        </p:txBody>
      </p:sp>
      <p:sp>
        <p:nvSpPr>
          <p:cNvPr id="12" name="Rounded Rectangle 11"/>
          <p:cNvSpPr/>
          <p:nvPr/>
        </p:nvSpPr>
        <p:spPr>
          <a:xfrm>
            <a:off x="548640" y="2788920"/>
            <a:ext cx="502920" cy="658368"/>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16936"/>
            <a:ext cx="50292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600" b="1" i="0">
                <a:solidFill>
                  <a:srgbClr val="4C9AFF"/>
                </a:solidFill>
                <a:latin typeface="Calibri"/>
              </a:rPr>
              <a:t>B</a:t>
            </a:r>
          </a:p>
        </p:txBody>
      </p:sp>
      <p:sp>
        <p:nvSpPr>
          <p:cNvPr id="14" name="Rounded Rectangle 13"/>
          <p:cNvSpPr/>
          <p:nvPr/>
        </p:nvSpPr>
        <p:spPr>
          <a:xfrm>
            <a:off x="1234440" y="2788920"/>
            <a:ext cx="1037844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2880360"/>
            <a:ext cx="100584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Pull the triggering events</a:t>
            </a:r>
          </a:p>
        </p:txBody>
      </p:sp>
      <p:sp>
        <p:nvSpPr>
          <p:cNvPr id="16" name="TextBox 15"/>
          <p:cNvSpPr txBox="1"/>
          <p:nvPr/>
        </p:nvSpPr>
        <p:spPr>
          <a:xfrm>
            <a:off x="1463040" y="3172968"/>
            <a:ext cx="10058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the agent hunts the C2 address in SIEM and confirms the beaconing</a:t>
            </a:r>
          </a:p>
        </p:txBody>
      </p:sp>
      <p:sp>
        <p:nvSpPr>
          <p:cNvPr id="17" name="Rounded Rectangle 16"/>
          <p:cNvSpPr/>
          <p:nvPr/>
        </p:nvSpPr>
        <p:spPr>
          <a:xfrm>
            <a:off x="548640" y="3520439"/>
            <a:ext cx="502920" cy="658368"/>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48456"/>
            <a:ext cx="50292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600" b="1" i="0">
                <a:solidFill>
                  <a:srgbClr val="4C9AFF"/>
                </a:solidFill>
                <a:latin typeface="Calibri"/>
              </a:rPr>
              <a:t>C</a:t>
            </a:r>
          </a:p>
        </p:txBody>
      </p:sp>
      <p:sp>
        <p:nvSpPr>
          <p:cNvPr id="19" name="Rounded Rectangle 18"/>
          <p:cNvSpPr/>
          <p:nvPr/>
        </p:nvSpPr>
        <p:spPr>
          <a:xfrm>
            <a:off x="1234440" y="3520439"/>
            <a:ext cx="1037844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3040" y="3611879"/>
            <a:ext cx="100584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Enrich the indicators</a:t>
            </a:r>
          </a:p>
        </p:txBody>
      </p:sp>
      <p:sp>
        <p:nvSpPr>
          <p:cNvPr id="21" name="TextBox 20"/>
          <p:cNvSpPr txBox="1"/>
          <p:nvPr/>
        </p:nvSpPr>
        <p:spPr>
          <a:xfrm>
            <a:off x="1463040" y="3904487"/>
            <a:ext cx="10058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VirusTotal on the malware hash; reputation on the destination IP — cited</a:t>
            </a:r>
          </a:p>
        </p:txBody>
      </p:sp>
      <p:sp>
        <p:nvSpPr>
          <p:cNvPr id="22" name="Rounded Rectangle 21"/>
          <p:cNvSpPr/>
          <p:nvPr/>
        </p:nvSpPr>
        <p:spPr>
          <a:xfrm>
            <a:off x="548640" y="4251959"/>
            <a:ext cx="502920" cy="658368"/>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79975"/>
            <a:ext cx="50292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600" b="1" i="0">
                <a:solidFill>
                  <a:srgbClr val="4C9AFF"/>
                </a:solidFill>
                <a:latin typeface="Calibri"/>
              </a:rPr>
              <a:t>D</a:t>
            </a:r>
          </a:p>
        </p:txBody>
      </p:sp>
      <p:sp>
        <p:nvSpPr>
          <p:cNvPr id="24" name="Rounded Rectangle 23"/>
          <p:cNvSpPr/>
          <p:nvPr/>
        </p:nvSpPr>
        <p:spPr>
          <a:xfrm>
            <a:off x="1234440" y="4251959"/>
            <a:ext cx="1037844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40" y="4343399"/>
            <a:ext cx="100584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Verdict, forced</a:t>
            </a:r>
          </a:p>
        </p:txBody>
      </p:sp>
      <p:sp>
        <p:nvSpPr>
          <p:cNvPr id="26" name="TextBox 25"/>
          <p:cNvSpPr txBox="1"/>
          <p:nvPr/>
        </p:nvSpPr>
        <p:spPr>
          <a:xfrm>
            <a:off x="1463040" y="4636007"/>
            <a:ext cx="10058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“confirmed C2 / exfil, high severity — recommend blocking the destination”</a:t>
            </a:r>
          </a:p>
        </p:txBody>
      </p:sp>
      <p:sp>
        <p:nvSpPr>
          <p:cNvPr id="27" name="Rounded Rectangle 26"/>
          <p:cNvSpPr/>
          <p:nvPr/>
        </p:nvSpPr>
        <p:spPr>
          <a:xfrm>
            <a:off x="548640" y="4983479"/>
            <a:ext cx="502920" cy="658368"/>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111495"/>
            <a:ext cx="50292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600" b="1" i="0">
                <a:solidFill>
                  <a:srgbClr val="4C9AFF"/>
                </a:solidFill>
                <a:latin typeface="Calibri"/>
              </a:rPr>
              <a:t>E</a:t>
            </a:r>
          </a:p>
        </p:txBody>
      </p:sp>
      <p:sp>
        <p:nvSpPr>
          <p:cNvPr id="29" name="Rounded Rectangle 28"/>
          <p:cNvSpPr/>
          <p:nvPr/>
        </p:nvSpPr>
        <p:spPr>
          <a:xfrm>
            <a:off x="1234440" y="4983479"/>
            <a:ext cx="1037844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63040" y="5074919"/>
            <a:ext cx="100584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Stage containment</a:t>
            </a:r>
          </a:p>
        </p:txBody>
      </p:sp>
      <p:sp>
        <p:nvSpPr>
          <p:cNvPr id="31" name="TextBox 30"/>
          <p:cNvSpPr txBox="1"/>
          <p:nvPr/>
        </p:nvSpPr>
        <p:spPr>
          <a:xfrm>
            <a:off x="1463040" y="5367527"/>
            <a:ext cx="10058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an action card to block the IP — analyst reviews args and approves</a:t>
            </a:r>
          </a:p>
        </p:txBody>
      </p:sp>
      <p:sp>
        <p:nvSpPr>
          <p:cNvPr id="32" name="Rounded Rectangle 31"/>
          <p:cNvSpPr/>
          <p:nvPr/>
        </p:nvSpPr>
        <p:spPr>
          <a:xfrm>
            <a:off x="548640" y="5714999"/>
            <a:ext cx="502920" cy="658368"/>
          </a:xfrm>
          <a:prstGeom prst="roundRect">
            <a:avLst/>
          </a:prstGeom>
          <a:solidFill>
            <a:srgbClr val="1E2633"/>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843015"/>
            <a:ext cx="50292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600" b="1" i="0">
                <a:solidFill>
                  <a:srgbClr val="4C9AFF"/>
                </a:solidFill>
                <a:latin typeface="Calibri"/>
              </a:rPr>
              <a:t>F</a:t>
            </a:r>
          </a:p>
        </p:txBody>
      </p:sp>
      <p:sp>
        <p:nvSpPr>
          <p:cNvPr id="34" name="Rounded Rectangle 33"/>
          <p:cNvSpPr/>
          <p:nvPr/>
        </p:nvSpPr>
        <p:spPr>
          <a:xfrm>
            <a:off x="1234440" y="5714999"/>
            <a:ext cx="10378440" cy="658368"/>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63040" y="5806439"/>
            <a:ext cx="10058400" cy="32004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50" b="1" i="0">
                <a:solidFill>
                  <a:srgbClr val="E6EDF3"/>
                </a:solidFill>
                <a:latin typeface="Calibri"/>
              </a:rPr>
              <a:t>Bottle it</a:t>
            </a:r>
          </a:p>
        </p:txBody>
      </p:sp>
      <p:sp>
        <p:nvSpPr>
          <p:cNvPr id="36" name="TextBox 35"/>
          <p:cNvSpPr txBox="1"/>
          <p:nvPr/>
        </p:nvSpPr>
        <p:spPr>
          <a:xfrm>
            <a:off x="1463040" y="6099047"/>
            <a:ext cx="10058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the whole run is offered back as a reusable response playbook</a:t>
            </a:r>
          </a:p>
        </p:txBody>
      </p:sp>
      <p:sp>
        <p:nvSpPr>
          <p:cNvPr id="37" name="TextBox 36"/>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38" name="TextBox 37"/>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REACH · ANY VENDOR</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Same superpowers on anyone's stack</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FortiSOAR has integrated 3rd-party SIEMs and tools natively since day one</a:t>
            </a:r>
          </a:p>
        </p:txBody>
      </p:sp>
      <p:sp>
        <p:nvSpPr>
          <p:cNvPr id="7" name="Rounded Rectangle 6"/>
          <p:cNvSpPr/>
          <p:nvPr/>
        </p:nvSpPr>
        <p:spPr>
          <a:xfrm>
            <a:off x="548640" y="2011680"/>
            <a:ext cx="5440680" cy="182880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5029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4C9AFF"/>
                </a:solidFill>
                <a:latin typeface="Calibri"/>
              </a:rPr>
              <a:t>Not locked to Fortinet telemetry</a:t>
            </a:r>
          </a:p>
        </p:txBody>
      </p:sp>
      <p:sp>
        <p:nvSpPr>
          <p:cNvPr id="9" name="TextBox 8"/>
          <p:cNvSpPr txBox="1"/>
          <p:nvPr/>
        </p:nvSpPr>
        <p:spPr>
          <a:xfrm>
            <a:off x="777240" y="2542032"/>
            <a:ext cx="5029200" cy="123444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250" b="0" i="0">
                <a:solidFill>
                  <a:srgbClr val="E6EDF3"/>
                </a:solidFill>
                <a:latin typeface="Calibri"/>
              </a:rPr>
              <a:t>The connector enriches, hunts and contains through </a:t>
            </a:r>
            <a:r>
              <a:rPr sz="1250" b="1" i="0">
                <a:solidFill>
                  <a:srgbClr val="3FD99B"/>
                </a:solidFill>
                <a:latin typeface="Calibri"/>
              </a:rPr>
              <a:t>any of 714+ connectors</a:t>
            </a:r>
            <a:r>
              <a:rPr sz="1250" b="0" i="0">
                <a:solidFill>
                  <a:srgbClr val="E6EDF3"/>
                </a:solidFill>
                <a:latin typeface="Calibri"/>
              </a:rPr>
              <a:t> — third-party SIEMs, EDRs, firewalls, identity and TI. Same investigation quality whatever the customer runs.</a:t>
            </a:r>
          </a:p>
        </p:txBody>
      </p:sp>
      <p:sp>
        <p:nvSpPr>
          <p:cNvPr id="10" name="Rounded Rectangle 9"/>
          <p:cNvSpPr/>
          <p:nvPr/>
        </p:nvSpPr>
        <p:spPr>
          <a:xfrm>
            <a:off x="548640" y="3977639"/>
            <a:ext cx="5440680" cy="2011680"/>
          </a:xfrm>
          <a:prstGeom prst="roundRect">
            <a:avLst/>
          </a:prstGeom>
          <a:solidFill>
            <a:srgbClr val="161C26"/>
          </a:solid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114800"/>
            <a:ext cx="50292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1" i="0">
                <a:solidFill>
                  <a:srgbClr val="3FD99B"/>
                </a:solidFill>
                <a:latin typeface="Calibri"/>
              </a:rPr>
              <a:t>What FortiSOC actually adds</a:t>
            </a:r>
          </a:p>
        </p:txBody>
      </p:sp>
      <p:sp>
        <p:nvSpPr>
          <p:cNvPr id="12" name="TextBox 11"/>
          <p:cNvSpPr txBox="1"/>
          <p:nvPr/>
        </p:nvSpPr>
        <p:spPr>
          <a:xfrm>
            <a:off x="777240" y="4526280"/>
            <a:ext cx="5029200" cy="1371600"/>
          </a:xfrm>
          <a:prstGeom prst="rect">
            <a:avLst/>
          </a:prstGeom>
          <a:noFill/>
        </p:spPr>
        <p:txBody>
          <a:bodyPr wrap="square" anchor="t" lIns="25400" rIns="25400" tIns="25400" bIns="25400">
            <a:spAutoFit/>
          </a:bodyPr>
          <a:lstStyle/>
          <a:p>
            <a:pPr algn="l">
              <a:lnSpc>
                <a:spcPct val="112000"/>
              </a:lnSpc>
              <a:spcBef>
                <a:spcPts val="0"/>
              </a:spcBef>
              <a:spcAft>
                <a:spcPts val="400"/>
              </a:spcAft>
            </a:pPr>
            <a:r>
              <a:rPr sz="1250" b="0" i="0">
                <a:solidFill>
                  <a:srgbClr val="E6EDF3"/>
                </a:solidFill>
                <a:latin typeface="Calibri"/>
              </a:rPr>
              <a:t>The integration was always there. FortiSOC </a:t>
            </a:r>
            <a:r>
              <a:rPr sz="1250" b="1" i="0">
                <a:solidFill>
                  <a:srgbClr val="E6EDF3"/>
                </a:solidFill>
                <a:latin typeface="Calibri"/>
              </a:rPr>
              <a:t>unifies Fortinet logging, incident management and response under one product</a:t>
            </a:r>
            <a:r>
              <a:rPr sz="1250" b="0" i="0">
                <a:solidFill>
                  <a:srgbClr val="9AA7B4"/>
                </a:solidFill>
                <a:latin typeface="Calibri"/>
              </a:rPr>
              <a:t> — and this AI layer works across all of it, and everything it connects to.</a:t>
            </a:r>
          </a:p>
        </p:txBody>
      </p:sp>
      <p:sp>
        <p:nvSpPr>
          <p:cNvPr id="13" name="TextBox 12"/>
          <p:cNvSpPr txBox="1"/>
          <p:nvPr/>
        </p:nvSpPr>
        <p:spPr>
          <a:xfrm>
            <a:off x="6263640" y="2011680"/>
            <a:ext cx="534924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One AI layer, every source</a:t>
            </a:r>
          </a:p>
        </p:txBody>
      </p:sp>
      <p:sp>
        <p:nvSpPr>
          <p:cNvPr id="14" name="Rounded Rectangle 13"/>
          <p:cNvSpPr/>
          <p:nvPr/>
        </p:nvSpPr>
        <p:spPr>
          <a:xfrm>
            <a:off x="6263640" y="2514600"/>
            <a:ext cx="2606040" cy="960120"/>
          </a:xfrm>
          <a:prstGeom prst="roundRect">
            <a:avLst/>
          </a:prstGeom>
          <a:solidFill>
            <a:srgbClr val="161C26"/>
          </a:solidFill>
          <a:ln w="12700">
            <a:solidFill>
              <a:srgbClr val="B4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807208"/>
            <a:ext cx="260604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300" b="1" i="0">
                <a:solidFill>
                  <a:srgbClr val="E6EDF3"/>
                </a:solidFill>
                <a:latin typeface="Calibri"/>
              </a:rPr>
              <a:t>3rd-party SIEM</a:t>
            </a:r>
          </a:p>
        </p:txBody>
      </p:sp>
      <p:sp>
        <p:nvSpPr>
          <p:cNvPr id="16" name="Rounded Rectangle 15"/>
          <p:cNvSpPr/>
          <p:nvPr/>
        </p:nvSpPr>
        <p:spPr>
          <a:xfrm>
            <a:off x="9006840" y="2514600"/>
            <a:ext cx="2606040" cy="960120"/>
          </a:xfrm>
          <a:prstGeom prst="roundRect">
            <a:avLst/>
          </a:prstGeom>
          <a:solidFill>
            <a:srgbClr val="161C26"/>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2807208"/>
            <a:ext cx="260604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300" b="1" i="0">
                <a:solidFill>
                  <a:srgbClr val="E6EDF3"/>
                </a:solidFill>
                <a:latin typeface="Calibri"/>
              </a:rPr>
              <a:t>Any EDR</a:t>
            </a:r>
          </a:p>
        </p:txBody>
      </p:sp>
      <p:sp>
        <p:nvSpPr>
          <p:cNvPr id="18" name="Rounded Rectangle 17"/>
          <p:cNvSpPr/>
          <p:nvPr/>
        </p:nvSpPr>
        <p:spPr>
          <a:xfrm>
            <a:off x="6263640" y="3657600"/>
            <a:ext cx="2606040" cy="960120"/>
          </a:xfrm>
          <a:prstGeom prst="roundRect">
            <a:avLst/>
          </a:prstGeom>
          <a:solidFill>
            <a:srgbClr val="161C26"/>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3950208"/>
            <a:ext cx="260604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300" b="1" i="0">
                <a:solidFill>
                  <a:srgbClr val="E6EDF3"/>
                </a:solidFill>
                <a:latin typeface="Calibri"/>
              </a:rPr>
              <a:t>Any firewall</a:t>
            </a:r>
          </a:p>
        </p:txBody>
      </p:sp>
      <p:sp>
        <p:nvSpPr>
          <p:cNvPr id="20" name="Rounded Rectangle 19"/>
          <p:cNvSpPr/>
          <p:nvPr/>
        </p:nvSpPr>
        <p:spPr>
          <a:xfrm>
            <a:off x="9006840" y="3657600"/>
            <a:ext cx="2606040" cy="960120"/>
          </a:xfrm>
          <a:prstGeom prst="roundRect">
            <a:avLst/>
          </a:prstGeom>
          <a:solidFill>
            <a:srgbClr val="161C26"/>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6840" y="3950208"/>
            <a:ext cx="260604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300" b="1" i="0">
                <a:solidFill>
                  <a:srgbClr val="E6EDF3"/>
                </a:solidFill>
                <a:latin typeface="Calibri"/>
              </a:rPr>
              <a:t>Identity / IAM</a:t>
            </a:r>
          </a:p>
        </p:txBody>
      </p:sp>
      <p:sp>
        <p:nvSpPr>
          <p:cNvPr id="22" name="Rounded Rectangle 21"/>
          <p:cNvSpPr/>
          <p:nvPr/>
        </p:nvSpPr>
        <p:spPr>
          <a:xfrm>
            <a:off x="6263640" y="4800600"/>
            <a:ext cx="2606040" cy="960120"/>
          </a:xfrm>
          <a:prstGeom prst="roundRect">
            <a:avLst/>
          </a:prstGeom>
          <a:solidFill>
            <a:srgbClr val="161C26"/>
          </a:solidFill>
          <a:ln w="12700">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5093208"/>
            <a:ext cx="260604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300" b="1" i="0">
                <a:solidFill>
                  <a:srgbClr val="E6EDF3"/>
                </a:solidFill>
                <a:latin typeface="Calibri"/>
              </a:rPr>
              <a:t>Threat intel</a:t>
            </a:r>
          </a:p>
        </p:txBody>
      </p:sp>
      <p:sp>
        <p:nvSpPr>
          <p:cNvPr id="24" name="Rounded Rectangle 23"/>
          <p:cNvSpPr/>
          <p:nvPr/>
        </p:nvSpPr>
        <p:spPr>
          <a:xfrm>
            <a:off x="9006840" y="4800600"/>
            <a:ext cx="2606040" cy="960120"/>
          </a:xfrm>
          <a:prstGeom prst="roundRect">
            <a:avLst/>
          </a:prstGeom>
          <a:solidFill>
            <a:srgbClr val="161C26"/>
          </a:solidFill>
          <a:ln w="12700">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5093208"/>
            <a:ext cx="2606040" cy="365760"/>
          </a:xfrm>
          <a:prstGeom prst="rect">
            <a:avLst/>
          </a:prstGeom>
          <a:noFill/>
        </p:spPr>
        <p:txBody>
          <a:bodyPr wrap="square" anchor="t" lIns="25400" rIns="25400" tIns="25400" bIns="25400">
            <a:spAutoFit/>
          </a:bodyPr>
          <a:lstStyle/>
          <a:p>
            <a:pPr algn="ctr">
              <a:lnSpc>
                <a:spcPct val="100000"/>
              </a:lnSpc>
              <a:spcBef>
                <a:spcPts val="0"/>
              </a:spcBef>
              <a:spcAft>
                <a:spcPts val="400"/>
              </a:spcAft>
            </a:pPr>
            <a:r>
              <a:rPr sz="1300" b="1" i="0">
                <a:solidFill>
                  <a:srgbClr val="E6EDF3"/>
                </a:solidFill>
                <a:latin typeface="Calibri"/>
              </a:rPr>
              <a:t>Cloud / SaaS</a:t>
            </a:r>
          </a:p>
        </p:txBody>
      </p:sp>
      <p:sp>
        <p:nvSpPr>
          <p:cNvPr id="26" name="TextBox 25"/>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27" name="TextBox 26"/>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WHERE THIS GOES NEXT</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From assistant to autonomous tier-1 SOC</a:t>
            </a:r>
          </a:p>
        </p:txBody>
      </p:sp>
      <p:sp>
        <p:nvSpPr>
          <p:cNvPr id="6" name="Rounded Rectangle 5"/>
          <p:cNvSpPr/>
          <p:nvPr/>
        </p:nvSpPr>
        <p:spPr>
          <a:xfrm>
            <a:off x="548640" y="2057400"/>
            <a:ext cx="3584448" cy="3840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57400"/>
            <a:ext cx="3584448" cy="91440"/>
          </a:xfrm>
          <a:prstGeom prst="rect">
            <a:avLst/>
          </a:prstGeom>
          <a:solidFill>
            <a:srgbClr val="B4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267712"/>
            <a:ext cx="3200400" cy="6858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50" b="1" i="0">
                <a:solidFill>
                  <a:srgbClr val="E6EDF3"/>
                </a:solidFill>
                <a:latin typeface="Calibri"/>
              </a:rPr>
              <a:t>AI investigation queue</a:t>
            </a:r>
          </a:p>
        </p:txBody>
      </p:sp>
      <p:sp>
        <p:nvSpPr>
          <p:cNvPr id="9" name="TextBox 8"/>
          <p:cNvSpPr txBox="1"/>
          <p:nvPr/>
        </p:nvSpPr>
        <p:spPr>
          <a:xfrm>
            <a:off x="749808" y="3154680"/>
            <a:ext cx="3246120" cy="2743200"/>
          </a:xfrm>
          <a:prstGeom prst="rect">
            <a:avLst/>
          </a:prstGeom>
          <a:noFill/>
        </p:spPr>
        <p:txBody>
          <a:bodyPr wrap="square" anchor="t" lIns="25400" rIns="25400" tIns="25400" bIns="25400">
            <a:spAutoFit/>
          </a:bodyPr>
          <a:lstStyle/>
          <a:p>
            <a:pPr algn="l">
              <a:lnSpc>
                <a:spcPct val="108000"/>
              </a:lnSpc>
              <a:spcBef>
                <a:spcPts val="0"/>
              </a:spcBef>
              <a:spcAft>
                <a:spcPts val="600"/>
              </a:spcAft>
            </a:pPr>
            <a:r>
              <a:rPr sz="1250" b="0" i="0">
                <a:solidFill>
                  <a:srgbClr val="9AA7B4"/>
                </a:solidFill>
                <a:latin typeface="Calibri"/>
              </a:rPr>
              <a:t>A live watchtower of every AI</a:t>
            </a:r>
          </a:p>
          <a:p>
            <a:pPr algn="l">
              <a:lnSpc>
                <a:spcPct val="108000"/>
              </a:lnSpc>
              <a:spcBef>
                <a:spcPts val="0"/>
              </a:spcBef>
              <a:spcAft>
                <a:spcPts val="600"/>
              </a:spcAft>
            </a:pPr>
            <a:r>
              <a:rPr sz="1250" b="0" i="0">
                <a:solidFill>
                  <a:srgbClr val="9AA7B4"/>
                </a:solidFill>
                <a:latin typeface="Calibri"/>
              </a:rPr>
              <a:t>investigation in flight. One</a:t>
            </a:r>
          </a:p>
          <a:p>
            <a:pPr algn="l">
              <a:lnSpc>
                <a:spcPct val="108000"/>
              </a:lnSpc>
              <a:spcBef>
                <a:spcPts val="0"/>
              </a:spcBef>
              <a:spcAft>
                <a:spcPts val="600"/>
              </a:spcAft>
            </a:pPr>
            <a:r>
              <a:rPr sz="1250" b="0" i="0">
                <a:solidFill>
                  <a:srgbClr val="9AA7B4"/>
                </a:solidFill>
                <a:latin typeface="Calibri"/>
              </a:rPr>
              <a:t>central place to watch, approve,</a:t>
            </a:r>
          </a:p>
          <a:p>
            <a:pPr algn="l">
              <a:lnSpc>
                <a:spcPct val="108000"/>
              </a:lnSpc>
              <a:spcBef>
                <a:spcPts val="0"/>
              </a:spcBef>
              <a:spcAft>
                <a:spcPts val="600"/>
              </a:spcAft>
            </a:pPr>
            <a:r>
              <a:rPr sz="1250" b="0" i="0">
                <a:solidFill>
                  <a:srgbClr val="9AA7B4"/>
                </a:solidFill>
                <a:latin typeface="Calibri"/>
              </a:rPr>
              <a:t>and guardrail — approvals surface</a:t>
            </a:r>
          </a:p>
          <a:p>
            <a:pPr algn="l">
              <a:lnSpc>
                <a:spcPct val="108000"/>
              </a:lnSpc>
              <a:spcBef>
                <a:spcPts val="0"/>
              </a:spcBef>
              <a:spcAft>
                <a:spcPts val="600"/>
              </a:spcAft>
            </a:pPr>
            <a:r>
              <a:rPr sz="1250" b="0" i="0">
                <a:solidFill>
                  <a:srgbClr val="9AA7B4"/>
                </a:solidFill>
                <a:latin typeface="Calibri"/>
              </a:rPr>
              <a:t>to the analyst as they're needed.</a:t>
            </a:r>
          </a:p>
        </p:txBody>
      </p:sp>
      <p:sp>
        <p:nvSpPr>
          <p:cNvPr id="10" name="Rounded Rectangle 9"/>
          <p:cNvSpPr/>
          <p:nvPr/>
        </p:nvSpPr>
        <p:spPr>
          <a:xfrm>
            <a:off x="4370831" y="2057400"/>
            <a:ext cx="3584448" cy="3840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1" y="2057400"/>
            <a:ext cx="3584448" cy="9144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2267712"/>
            <a:ext cx="3200400" cy="6858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50" b="1" i="0">
                <a:solidFill>
                  <a:srgbClr val="E6EDF3"/>
                </a:solidFill>
                <a:latin typeface="Calibri"/>
              </a:rPr>
              <a:t>Auto-triage on case creation</a:t>
            </a:r>
          </a:p>
        </p:txBody>
      </p:sp>
      <p:sp>
        <p:nvSpPr>
          <p:cNvPr id="13" name="TextBox 12"/>
          <p:cNvSpPr txBox="1"/>
          <p:nvPr/>
        </p:nvSpPr>
        <p:spPr>
          <a:xfrm>
            <a:off x="4571999" y="3154680"/>
            <a:ext cx="3246120" cy="2743200"/>
          </a:xfrm>
          <a:prstGeom prst="rect">
            <a:avLst/>
          </a:prstGeom>
          <a:noFill/>
        </p:spPr>
        <p:txBody>
          <a:bodyPr wrap="square" anchor="t" lIns="25400" rIns="25400" tIns="25400" bIns="25400">
            <a:spAutoFit/>
          </a:bodyPr>
          <a:lstStyle/>
          <a:p>
            <a:pPr algn="l">
              <a:lnSpc>
                <a:spcPct val="108000"/>
              </a:lnSpc>
              <a:spcBef>
                <a:spcPts val="0"/>
              </a:spcBef>
              <a:spcAft>
                <a:spcPts val="600"/>
              </a:spcAft>
            </a:pPr>
            <a:r>
              <a:rPr sz="1250" b="0" i="0">
                <a:solidFill>
                  <a:srgbClr val="9AA7B4"/>
                </a:solidFill>
                <a:latin typeface="Calibri"/>
              </a:rPr>
              <a:t>Fires the moment a case is created.</a:t>
            </a:r>
          </a:p>
          <a:p>
            <a:pPr algn="l">
              <a:lnSpc>
                <a:spcPct val="108000"/>
              </a:lnSpc>
              <a:spcBef>
                <a:spcPts val="0"/>
              </a:spcBef>
              <a:spcAft>
                <a:spcPts val="600"/>
              </a:spcAft>
            </a:pPr>
            <a:r>
              <a:rPr sz="1250" b="0" i="0">
                <a:solidFill>
                  <a:srgbClr val="9AA7B4"/>
                </a:solidFill>
                <a:latin typeface="Calibri"/>
              </a:rPr>
              <a:t>Runs full level-1 triage unattended,</a:t>
            </a:r>
          </a:p>
          <a:p>
            <a:pPr algn="l">
              <a:lnSpc>
                <a:spcPct val="108000"/>
              </a:lnSpc>
              <a:spcBef>
                <a:spcPts val="0"/>
              </a:spcBef>
              <a:spcAft>
                <a:spcPts val="600"/>
              </a:spcAft>
            </a:pPr>
            <a:r>
              <a:rPr sz="1250" b="0" i="0">
                <a:solidFill>
                  <a:srgbClr val="9AA7B4"/>
                </a:solidFill>
                <a:latin typeface="Calibri"/>
              </a:rPr>
              <a:t>then escalates to a human with the</a:t>
            </a:r>
          </a:p>
          <a:p>
            <a:pPr algn="l">
              <a:lnSpc>
                <a:spcPct val="108000"/>
              </a:lnSpc>
              <a:spcBef>
                <a:spcPts val="0"/>
              </a:spcBef>
              <a:spcAft>
                <a:spcPts val="600"/>
              </a:spcAft>
            </a:pPr>
            <a:r>
              <a:rPr sz="1250" b="0" i="0">
                <a:solidFill>
                  <a:srgbClr val="9AA7B4"/>
                </a:solidFill>
                <a:latin typeface="Calibri"/>
              </a:rPr>
              <a:t>findings already attached — the</a:t>
            </a:r>
          </a:p>
          <a:p>
            <a:pPr algn="l">
              <a:lnSpc>
                <a:spcPct val="108000"/>
              </a:lnSpc>
              <a:spcBef>
                <a:spcPts val="0"/>
              </a:spcBef>
              <a:spcAft>
                <a:spcPts val="600"/>
              </a:spcAft>
            </a:pPr>
            <a:r>
              <a:rPr sz="1250" b="0" i="0">
                <a:solidFill>
                  <a:srgbClr val="9AA7B4"/>
                </a:solidFill>
                <a:latin typeface="Calibri"/>
              </a:rPr>
              <a:t>analyst starts at the verdict.</a:t>
            </a:r>
          </a:p>
        </p:txBody>
      </p:sp>
      <p:sp>
        <p:nvSpPr>
          <p:cNvPr id="14" name="Rounded Rectangle 13"/>
          <p:cNvSpPr/>
          <p:nvPr/>
        </p:nvSpPr>
        <p:spPr>
          <a:xfrm>
            <a:off x="8193023" y="2057400"/>
            <a:ext cx="3584448" cy="38404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93023" y="2057400"/>
            <a:ext cx="3584448" cy="91440"/>
          </a:xfrm>
          <a:prstGeom prst="rect">
            <a:avLst/>
          </a:prstGeom>
          <a:solidFill>
            <a:srgbClr val="3FD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2267712"/>
            <a:ext cx="3200400" cy="6858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50" b="1" i="0">
                <a:solidFill>
                  <a:srgbClr val="E6EDF3"/>
                </a:solidFill>
                <a:latin typeface="Calibri"/>
              </a:rPr>
              <a:t>False-positive auto-close + tuning</a:t>
            </a:r>
          </a:p>
        </p:txBody>
      </p:sp>
      <p:sp>
        <p:nvSpPr>
          <p:cNvPr id="17" name="TextBox 16"/>
          <p:cNvSpPr txBox="1"/>
          <p:nvPr/>
        </p:nvSpPr>
        <p:spPr>
          <a:xfrm>
            <a:off x="8394192" y="3154680"/>
            <a:ext cx="3246120" cy="2743200"/>
          </a:xfrm>
          <a:prstGeom prst="rect">
            <a:avLst/>
          </a:prstGeom>
          <a:noFill/>
        </p:spPr>
        <p:txBody>
          <a:bodyPr wrap="square" anchor="t" lIns="25400" rIns="25400" tIns="25400" bIns="25400">
            <a:spAutoFit/>
          </a:bodyPr>
          <a:lstStyle/>
          <a:p>
            <a:pPr algn="l">
              <a:lnSpc>
                <a:spcPct val="108000"/>
              </a:lnSpc>
              <a:spcBef>
                <a:spcPts val="0"/>
              </a:spcBef>
              <a:spcAft>
                <a:spcPts val="600"/>
              </a:spcAft>
            </a:pPr>
            <a:r>
              <a:rPr sz="1250" b="0" i="0">
                <a:solidFill>
                  <a:srgbClr val="9AA7B4"/>
                </a:solidFill>
                <a:latin typeface="Calibri"/>
              </a:rPr>
              <a:t>For noisy escalation rules: confirm</a:t>
            </a:r>
          </a:p>
          <a:p>
            <a:pPr algn="l">
              <a:lnSpc>
                <a:spcPct val="108000"/>
              </a:lnSpc>
              <a:spcBef>
                <a:spcPts val="0"/>
              </a:spcBef>
              <a:spcAft>
                <a:spcPts val="600"/>
              </a:spcAft>
            </a:pPr>
            <a:r>
              <a:rPr sz="1250" b="0" i="0">
                <a:solidFill>
                  <a:srgbClr val="9AA7B4"/>
                </a:solidFill>
                <a:latin typeface="Calibri"/>
              </a:rPr>
              <a:t>the FP, close the alert and case —</a:t>
            </a:r>
          </a:p>
          <a:p>
            <a:pPr algn="l">
              <a:lnSpc>
                <a:spcPct val="108000"/>
              </a:lnSpc>
              <a:spcBef>
                <a:spcPts val="0"/>
              </a:spcBef>
              <a:spcAft>
                <a:spcPts val="600"/>
              </a:spcAft>
            </a:pPr>
            <a:r>
              <a:rPr sz="1250" b="0" i="0">
                <a:solidFill>
                  <a:srgbClr val="9AA7B4"/>
                </a:solidFill>
                <a:latin typeface="Calibri"/>
              </a:rPr>
              <a:t>and pinpoint exactly where to tune</a:t>
            </a:r>
          </a:p>
          <a:p>
            <a:pPr algn="l">
              <a:lnSpc>
                <a:spcPct val="108000"/>
              </a:lnSpc>
              <a:spcBef>
                <a:spcPts val="0"/>
              </a:spcBef>
              <a:spcAft>
                <a:spcPts val="600"/>
              </a:spcAft>
            </a:pPr>
            <a:r>
              <a:rPr sz="1250" b="0" i="0">
                <a:solidFill>
                  <a:srgbClr val="9AA7B4"/>
                </a:solidFill>
                <a:latin typeface="Calibri"/>
              </a:rPr>
              <a:t>the FAZ / SIEM rule that fired,</a:t>
            </a:r>
          </a:p>
          <a:p>
            <a:pPr algn="l">
              <a:lnSpc>
                <a:spcPct val="108000"/>
              </a:lnSpc>
              <a:spcBef>
                <a:spcPts val="0"/>
              </a:spcBef>
              <a:spcAft>
                <a:spcPts val="600"/>
              </a:spcAft>
            </a:pPr>
            <a:r>
              <a:rPr sz="1250" b="0" i="0">
                <a:solidFill>
                  <a:srgbClr val="9AA7B4"/>
                </a:solidFill>
                <a:latin typeface="Calibri"/>
              </a:rPr>
              <a:t>via an MCP link to the source.</a:t>
            </a:r>
          </a:p>
        </p:txBody>
      </p:sp>
      <p:sp>
        <p:nvSpPr>
          <p:cNvPr id="18" name="TextBox 17"/>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19" name="TextBox 18"/>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WHY THIS ISN'T FLUFF</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Proof points, not promises</a:t>
            </a:r>
          </a:p>
        </p:txBody>
      </p:sp>
      <p:sp>
        <p:nvSpPr>
          <p:cNvPr id="6" name="Rounded Rectangle 5"/>
          <p:cNvSpPr/>
          <p:nvPr/>
        </p:nvSpPr>
        <p:spPr>
          <a:xfrm>
            <a:off x="548640" y="2103120"/>
            <a:ext cx="5440680" cy="169164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91440" cy="1691640"/>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304288"/>
            <a:ext cx="50292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700" b="1" i="0">
                <a:solidFill>
                  <a:srgbClr val="E6EDF3"/>
                </a:solidFill>
                <a:latin typeface="Calibri"/>
              </a:rPr>
              <a:t>It touches the real stack</a:t>
            </a:r>
          </a:p>
        </p:txBody>
      </p:sp>
      <p:sp>
        <p:nvSpPr>
          <p:cNvPr id="9" name="TextBox 8"/>
          <p:cNvSpPr txBox="1"/>
          <p:nvPr/>
        </p:nvSpPr>
        <p:spPr>
          <a:xfrm>
            <a:off x="822959" y="2816352"/>
            <a:ext cx="4983480" cy="91440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300" b="0" i="0">
                <a:solidFill>
                  <a:srgbClr val="9AA7B4"/>
                </a:solidFill>
                <a:latin typeface="Calibri"/>
              </a:rPr>
              <a:t>FortiSIEM + FortiAnalyzer hunting, cited TI enrichment, firewall/EDR/identity response — all by live discovery.</a:t>
            </a:r>
          </a:p>
        </p:txBody>
      </p:sp>
      <p:sp>
        <p:nvSpPr>
          <p:cNvPr id="10" name="Rounded Rectangle 9"/>
          <p:cNvSpPr/>
          <p:nvPr/>
        </p:nvSpPr>
        <p:spPr>
          <a:xfrm>
            <a:off x="6172200" y="2103120"/>
            <a:ext cx="5440680" cy="169164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2103120"/>
            <a:ext cx="91440" cy="1691640"/>
          </a:xfrm>
          <a:prstGeom prst="rect">
            <a:avLst/>
          </a:prstGeom>
          <a:solidFill>
            <a:srgbClr val="B4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304288"/>
            <a:ext cx="50292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700" b="1" i="0">
                <a:solidFill>
                  <a:srgbClr val="E6EDF3"/>
                </a:solidFill>
                <a:latin typeface="Calibri"/>
              </a:rPr>
              <a:t>It reaches on-prem &amp; isolated</a:t>
            </a:r>
          </a:p>
        </p:txBody>
      </p:sp>
      <p:sp>
        <p:nvSpPr>
          <p:cNvPr id="13" name="TextBox 12"/>
          <p:cNvSpPr txBox="1"/>
          <p:nvPr/>
        </p:nvSpPr>
        <p:spPr>
          <a:xfrm>
            <a:off x="6446520" y="2816352"/>
            <a:ext cx="4983480" cy="91440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300" b="0" i="0">
                <a:solidFill>
                  <a:srgbClr val="9AA7B4"/>
                </a:solidFill>
                <a:latin typeface="Calibri"/>
              </a:rPr>
              <a:t>Drives and returns results from agent-bound targets the cloud can't address directly. Live-proofed.</a:t>
            </a:r>
          </a:p>
        </p:txBody>
      </p:sp>
      <p:sp>
        <p:nvSpPr>
          <p:cNvPr id="14" name="Rounded Rectangle 13"/>
          <p:cNvSpPr/>
          <p:nvPr/>
        </p:nvSpPr>
        <p:spPr>
          <a:xfrm>
            <a:off x="548640" y="3977639"/>
            <a:ext cx="5440680" cy="169164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77639"/>
            <a:ext cx="91440" cy="169164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178807"/>
            <a:ext cx="50292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700" b="1" i="0">
                <a:solidFill>
                  <a:srgbClr val="E6EDF3"/>
                </a:solidFill>
                <a:latin typeface="Calibri"/>
              </a:rPr>
              <a:t>Action is gated by code</a:t>
            </a:r>
          </a:p>
        </p:txBody>
      </p:sp>
      <p:sp>
        <p:nvSpPr>
          <p:cNvPr id="17" name="TextBox 16"/>
          <p:cNvSpPr txBox="1"/>
          <p:nvPr/>
        </p:nvSpPr>
        <p:spPr>
          <a:xfrm>
            <a:off x="822959" y="4690872"/>
            <a:ext cx="4983480" cy="91440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300" b="0" i="0">
                <a:solidFill>
                  <a:srgbClr val="9AA7B4"/>
                </a:solidFill>
                <a:latin typeface="Calibri"/>
              </a:rPr>
              <a:t>State-changing ops structurally suspend for approval. The model cannot fire containment alone.</a:t>
            </a:r>
          </a:p>
        </p:txBody>
      </p:sp>
      <p:sp>
        <p:nvSpPr>
          <p:cNvPr id="18" name="Rounded Rectangle 17"/>
          <p:cNvSpPr/>
          <p:nvPr/>
        </p:nvSpPr>
        <p:spPr>
          <a:xfrm>
            <a:off x="6172200" y="3977639"/>
            <a:ext cx="5440680" cy="169164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977639"/>
            <a:ext cx="91440" cy="1691640"/>
          </a:xfrm>
          <a:prstGeom prst="rect">
            <a:avLst/>
          </a:prstGeom>
          <a:solidFill>
            <a:srgbClr val="3FD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178807"/>
            <a:ext cx="50292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700" b="1" i="0">
                <a:solidFill>
                  <a:srgbClr val="E6EDF3"/>
                </a:solidFill>
                <a:latin typeface="Calibri"/>
              </a:rPr>
              <a:t>It compounds</a:t>
            </a:r>
          </a:p>
        </p:txBody>
      </p:sp>
      <p:sp>
        <p:nvSpPr>
          <p:cNvPr id="21" name="TextBox 20"/>
          <p:cNvSpPr txBox="1"/>
          <p:nvPr/>
        </p:nvSpPr>
        <p:spPr>
          <a:xfrm>
            <a:off x="6446520" y="4690872"/>
            <a:ext cx="4983480" cy="91440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1300" b="0" i="0">
                <a:solidFill>
                  <a:srgbClr val="9AA7B4"/>
                </a:solidFill>
                <a:latin typeface="Calibri"/>
              </a:rPr>
              <a:t>Every investigation can become a deterministic playbook — the library grows as analysts work.</a:t>
            </a:r>
          </a:p>
        </p:txBody>
      </p:sp>
      <p:sp>
        <p:nvSpPr>
          <p:cNvPr id="22" name="TextBox 21"/>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23" name="TextBox 22"/>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109728" cy="38404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05840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300" b="1" i="0">
                <a:solidFill>
                  <a:srgbClr val="4C9AFF"/>
                </a:solidFill>
                <a:latin typeface="Calibri"/>
              </a:rPr>
              <a:t>HOW IT SHIPS</a:t>
            </a:r>
          </a:p>
        </p:txBody>
      </p:sp>
      <p:sp>
        <p:nvSpPr>
          <p:cNvPr id="5" name="TextBox 4"/>
          <p:cNvSpPr txBox="1"/>
          <p:nvPr/>
        </p:nvSpPr>
        <p:spPr>
          <a:xfrm>
            <a:off x="548640" y="868680"/>
            <a:ext cx="11064240" cy="9144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2900" b="1" i="0">
                <a:solidFill>
                  <a:srgbClr val="E6EDF3"/>
                </a:solidFill>
                <a:latin typeface="Calibri"/>
              </a:rPr>
              <a:t>It's a connector — so it ships like one</a:t>
            </a:r>
          </a:p>
        </p:txBody>
      </p:sp>
      <p:sp>
        <p:nvSpPr>
          <p:cNvPr id="6" name="TextBox 5"/>
          <p:cNvSpPr txBox="1"/>
          <p:nvPr/>
        </p:nvSpPr>
        <p:spPr>
          <a:xfrm>
            <a:off x="566928" y="1463040"/>
            <a:ext cx="110642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500" b="0" i="0">
                <a:solidFill>
                  <a:srgbClr val="9AA7B4"/>
                </a:solidFill>
                <a:latin typeface="Calibri"/>
              </a:rPr>
              <a:t>No new appliance, no endpoint agent to deploy, no separate console</a:t>
            </a:r>
          </a:p>
        </p:txBody>
      </p:sp>
      <p:sp>
        <p:nvSpPr>
          <p:cNvPr id="7" name="Rounded Rectangle 6"/>
          <p:cNvSpPr/>
          <p:nvPr/>
        </p:nvSpPr>
        <p:spPr>
          <a:xfrm>
            <a:off x="548640" y="2103120"/>
            <a:ext cx="3566160" cy="2103120"/>
          </a:xfrm>
          <a:prstGeom prst="roundRect">
            <a:avLst/>
          </a:prstGeom>
          <a:solidFill>
            <a:srgbClr val="161C26"/>
          </a:solidFill>
          <a:ln w="15875">
            <a:solidFill>
              <a:srgbClr val="3FD9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286000"/>
            <a:ext cx="3200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In-platform connector</a:t>
            </a:r>
          </a:p>
        </p:txBody>
      </p:sp>
      <p:sp>
        <p:nvSpPr>
          <p:cNvPr id="9" name="TextBox 8"/>
          <p:cNvSpPr txBox="1"/>
          <p:nvPr/>
        </p:nvSpPr>
        <p:spPr>
          <a:xfrm>
            <a:off x="749808" y="2670048"/>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150" b="1" i="0">
                <a:solidFill>
                  <a:srgbClr val="3FD99B"/>
                </a:solidFill>
                <a:latin typeface="Calibri"/>
              </a:rPr>
              <a:t>the engine</a:t>
            </a:r>
          </a:p>
        </p:txBody>
      </p:sp>
      <p:sp>
        <p:nvSpPr>
          <p:cNvPr id="10" name="TextBox 9"/>
          <p:cNvSpPr txBox="1"/>
          <p:nvPr/>
        </p:nvSpPr>
        <p:spPr>
          <a:xfrm>
            <a:off x="749808" y="3063240"/>
            <a:ext cx="3200400" cy="1005840"/>
          </a:xfrm>
          <a:prstGeom prst="rect">
            <a:avLst/>
          </a:prstGeom>
          <a:noFill/>
        </p:spPr>
        <p:txBody>
          <a:bodyPr wrap="square" anchor="t" lIns="25400" rIns="25400" tIns="25400" bIns="25400">
            <a:spAutoFit/>
          </a:bodyPr>
          <a:lstStyle/>
          <a:p>
            <a:pPr algn="l">
              <a:lnSpc>
                <a:spcPct val="112000"/>
              </a:lnSpc>
              <a:spcBef>
                <a:spcPts val="0"/>
              </a:spcBef>
              <a:spcAft>
                <a:spcPts val="400"/>
              </a:spcAft>
            </a:pPr>
            <a:r>
              <a:rPr sz="1250" b="0" i="0">
                <a:solidFill>
                  <a:srgbClr val="9AA7B4"/>
                </a:solidFill>
                <a:latin typeface="Calibri"/>
              </a:rPr>
              <a:t>the agent loop, tools, gating, remote execution, trace capture</a:t>
            </a:r>
          </a:p>
        </p:txBody>
      </p:sp>
      <p:sp>
        <p:nvSpPr>
          <p:cNvPr id="11" name="Rounded Rectangle 10"/>
          <p:cNvSpPr/>
          <p:nvPr/>
        </p:nvSpPr>
        <p:spPr>
          <a:xfrm>
            <a:off x="4370831" y="2103120"/>
            <a:ext cx="3566160" cy="2103120"/>
          </a:xfrm>
          <a:prstGeom prst="roundRect">
            <a:avLst/>
          </a:prstGeom>
          <a:solidFill>
            <a:srgbClr val="161C26"/>
          </a:solidFill>
          <a:ln w="15875">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2286000"/>
            <a:ext cx="3200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AngularJS widget</a:t>
            </a:r>
          </a:p>
        </p:txBody>
      </p:sp>
      <p:sp>
        <p:nvSpPr>
          <p:cNvPr id="13" name="TextBox 12"/>
          <p:cNvSpPr txBox="1"/>
          <p:nvPr/>
        </p:nvSpPr>
        <p:spPr>
          <a:xfrm>
            <a:off x="4571999" y="2670048"/>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150" b="1" i="0">
                <a:solidFill>
                  <a:srgbClr val="4C9AFF"/>
                </a:solidFill>
                <a:latin typeface="Calibri"/>
              </a:rPr>
              <a:t>the surface</a:t>
            </a:r>
          </a:p>
        </p:txBody>
      </p:sp>
      <p:sp>
        <p:nvSpPr>
          <p:cNvPr id="14" name="TextBox 13"/>
          <p:cNvSpPr txBox="1"/>
          <p:nvPr/>
        </p:nvSpPr>
        <p:spPr>
          <a:xfrm>
            <a:off x="4571999" y="3063240"/>
            <a:ext cx="3200400" cy="1005840"/>
          </a:xfrm>
          <a:prstGeom prst="rect">
            <a:avLst/>
          </a:prstGeom>
          <a:noFill/>
        </p:spPr>
        <p:txBody>
          <a:bodyPr wrap="square" anchor="t" lIns="25400" rIns="25400" tIns="25400" bIns="25400">
            <a:spAutoFit/>
          </a:bodyPr>
          <a:lstStyle/>
          <a:p>
            <a:pPr algn="l">
              <a:lnSpc>
                <a:spcPct val="112000"/>
              </a:lnSpc>
              <a:spcBef>
                <a:spcPts val="0"/>
              </a:spcBef>
              <a:spcAft>
                <a:spcPts val="400"/>
              </a:spcAft>
            </a:pPr>
            <a:r>
              <a:rPr sz="1250" b="0" i="0">
                <a:solidFill>
                  <a:srgbClr val="9AA7B4"/>
                </a:solidFill>
                <a:latin typeface="Calibri"/>
              </a:rPr>
              <a:t>chat drawer on the record · renders cards · halt-and-resume</a:t>
            </a:r>
          </a:p>
        </p:txBody>
      </p:sp>
      <p:sp>
        <p:nvSpPr>
          <p:cNvPr id="15" name="Rounded Rectangle 14"/>
          <p:cNvSpPr/>
          <p:nvPr/>
        </p:nvSpPr>
        <p:spPr>
          <a:xfrm>
            <a:off x="8193023" y="2103120"/>
            <a:ext cx="3566160" cy="2103120"/>
          </a:xfrm>
          <a:prstGeom prst="roundRect">
            <a:avLst/>
          </a:prstGeom>
          <a:solidFill>
            <a:srgbClr val="161C26"/>
          </a:solidFill>
          <a:ln w="15875">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2286000"/>
            <a:ext cx="3200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E6EDF3"/>
                </a:solidFill>
                <a:latin typeface="Calibri"/>
              </a:rPr>
              <a:t>fsr_core</a:t>
            </a:r>
          </a:p>
        </p:txBody>
      </p:sp>
      <p:sp>
        <p:nvSpPr>
          <p:cNvPr id="17" name="TextBox 16"/>
          <p:cNvSpPr txBox="1"/>
          <p:nvPr/>
        </p:nvSpPr>
        <p:spPr>
          <a:xfrm>
            <a:off x="8394192" y="2670048"/>
            <a:ext cx="32004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150" b="1" i="0">
                <a:solidFill>
                  <a:srgbClr val="FFB454"/>
                </a:solidFill>
                <a:latin typeface="Calibri"/>
              </a:rPr>
              <a:t>the shared core</a:t>
            </a:r>
          </a:p>
        </p:txBody>
      </p:sp>
      <p:sp>
        <p:nvSpPr>
          <p:cNvPr id="18" name="TextBox 17"/>
          <p:cNvSpPr txBox="1"/>
          <p:nvPr/>
        </p:nvSpPr>
        <p:spPr>
          <a:xfrm>
            <a:off x="8394192" y="3063240"/>
            <a:ext cx="3200400" cy="1005840"/>
          </a:xfrm>
          <a:prstGeom prst="rect">
            <a:avLst/>
          </a:prstGeom>
          <a:noFill/>
        </p:spPr>
        <p:txBody>
          <a:bodyPr wrap="square" anchor="t" lIns="25400" rIns="25400" tIns="25400" bIns="25400">
            <a:spAutoFit/>
          </a:bodyPr>
          <a:lstStyle/>
          <a:p>
            <a:pPr algn="l">
              <a:lnSpc>
                <a:spcPct val="112000"/>
              </a:lnSpc>
              <a:spcBef>
                <a:spcPts val="0"/>
              </a:spcBef>
              <a:spcAft>
                <a:spcPts val="400"/>
              </a:spcAft>
            </a:pPr>
            <a:r>
              <a:rPr sz="1250" b="0" i="0">
                <a:solidFill>
                  <a:srgbClr val="9AA7B4"/>
                </a:solidFill>
                <a:latin typeface="Calibri"/>
              </a:rPr>
              <a:t>triage pipeline · tier model · compiler · reference store</a:t>
            </a:r>
          </a:p>
        </p:txBody>
      </p:sp>
      <p:sp>
        <p:nvSpPr>
          <p:cNvPr id="19" name="Rounded Rectangle 18"/>
          <p:cNvSpPr/>
          <p:nvPr/>
        </p:nvSpPr>
        <p:spPr>
          <a:xfrm>
            <a:off x="548640" y="4434840"/>
            <a:ext cx="11064240" cy="1600200"/>
          </a:xfrm>
          <a:prstGeom prst="roundRect">
            <a:avLst/>
          </a:prstGeom>
          <a:solidFill>
            <a:srgbClr val="1E2633"/>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572000"/>
            <a:ext cx="105156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1" i="0">
                <a:solidFill>
                  <a:srgbClr val="E6EDF3"/>
                </a:solidFill>
                <a:latin typeface="Calibri"/>
              </a:rPr>
              <a:t>Already real today</a:t>
            </a:r>
          </a:p>
        </p:txBody>
      </p:sp>
      <p:sp>
        <p:nvSpPr>
          <p:cNvPr id="21" name="Rounded Rectangle 20"/>
          <p:cNvSpPr/>
          <p:nvPr/>
        </p:nvSpPr>
        <p:spPr>
          <a:xfrm>
            <a:off x="777240" y="4983480"/>
            <a:ext cx="2633472" cy="8686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074920"/>
            <a:ext cx="237744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3FD99B"/>
                </a:solidFill>
                <a:latin typeface="Calibri"/>
              </a:rPr>
              <a:t>Live</a:t>
            </a:r>
          </a:p>
        </p:txBody>
      </p:sp>
      <p:sp>
        <p:nvSpPr>
          <p:cNvPr id="23" name="TextBox 22"/>
          <p:cNvSpPr txBox="1"/>
          <p:nvPr/>
        </p:nvSpPr>
        <p:spPr>
          <a:xfrm>
            <a:off x="914400" y="5394960"/>
            <a:ext cx="23774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0" i="0">
                <a:solidFill>
                  <a:srgbClr val="9AA7B4"/>
                </a:solidFill>
                <a:latin typeface="Calibri"/>
              </a:rPr>
              <a:t>FortiCloud SOAR 7.6.5</a:t>
            </a:r>
          </a:p>
        </p:txBody>
      </p:sp>
      <p:sp>
        <p:nvSpPr>
          <p:cNvPr id="24" name="Rounded Rectangle 23"/>
          <p:cNvSpPr/>
          <p:nvPr/>
        </p:nvSpPr>
        <p:spPr>
          <a:xfrm>
            <a:off x="3520440" y="4983480"/>
            <a:ext cx="2633472" cy="8686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5074920"/>
            <a:ext cx="237744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3FD99B"/>
                </a:solidFill>
                <a:latin typeface="Calibri"/>
              </a:rPr>
              <a:t>Verified</a:t>
            </a:r>
          </a:p>
        </p:txBody>
      </p:sp>
      <p:sp>
        <p:nvSpPr>
          <p:cNvPr id="26" name="TextBox 25"/>
          <p:cNvSpPr txBox="1"/>
          <p:nvPr/>
        </p:nvSpPr>
        <p:spPr>
          <a:xfrm>
            <a:off x="3657600" y="5394960"/>
            <a:ext cx="23774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0" i="0">
                <a:solidFill>
                  <a:srgbClr val="9AA7B4"/>
                </a:solidFill>
                <a:latin typeface="Calibri"/>
              </a:rPr>
              <a:t>guardrails ship with unit tests</a:t>
            </a:r>
          </a:p>
        </p:txBody>
      </p:sp>
      <p:sp>
        <p:nvSpPr>
          <p:cNvPr id="27" name="Rounded Rectangle 26"/>
          <p:cNvSpPr/>
          <p:nvPr/>
        </p:nvSpPr>
        <p:spPr>
          <a:xfrm>
            <a:off x="6263640" y="4983480"/>
            <a:ext cx="2633472" cy="8686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074920"/>
            <a:ext cx="237744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3FD99B"/>
                </a:solidFill>
                <a:latin typeface="Calibri"/>
              </a:rPr>
              <a:t>Remote</a:t>
            </a:r>
          </a:p>
        </p:txBody>
      </p:sp>
      <p:sp>
        <p:nvSpPr>
          <p:cNvPr id="29" name="TextBox 28"/>
          <p:cNvSpPr txBox="1"/>
          <p:nvPr/>
        </p:nvSpPr>
        <p:spPr>
          <a:xfrm>
            <a:off x="6400800" y="5394960"/>
            <a:ext cx="23774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0" i="0">
                <a:solidFill>
                  <a:srgbClr val="9AA7B4"/>
                </a:solidFill>
                <a:latin typeface="Calibri"/>
              </a:rPr>
              <a:t>agent-bound execution proven</a:t>
            </a:r>
          </a:p>
        </p:txBody>
      </p:sp>
      <p:sp>
        <p:nvSpPr>
          <p:cNvPr id="30" name="Rounded Rectangle 29"/>
          <p:cNvSpPr/>
          <p:nvPr/>
        </p:nvSpPr>
        <p:spPr>
          <a:xfrm>
            <a:off x="9006840" y="4983480"/>
            <a:ext cx="2633472" cy="868680"/>
          </a:xfrm>
          <a:prstGeom prst="roundRect">
            <a:avLst/>
          </a:prstGeom>
          <a:solidFill>
            <a:srgbClr val="161C26"/>
          </a:solidFill>
          <a:ln w="12700">
            <a:solidFill>
              <a:srgbClr val="2A3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0" y="5074920"/>
            <a:ext cx="237744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50" b="1" i="0">
                <a:solidFill>
                  <a:srgbClr val="3FD99B"/>
                </a:solidFill>
                <a:latin typeface="Calibri"/>
              </a:rPr>
              <a:t>Vendor-agnostic</a:t>
            </a:r>
          </a:p>
        </p:txBody>
      </p:sp>
      <p:sp>
        <p:nvSpPr>
          <p:cNvPr id="32" name="TextBox 31"/>
          <p:cNvSpPr txBox="1"/>
          <p:nvPr/>
        </p:nvSpPr>
        <p:spPr>
          <a:xfrm>
            <a:off x="9144000" y="5394960"/>
            <a:ext cx="23774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050" b="0" i="0">
                <a:solidFill>
                  <a:srgbClr val="9AA7B4"/>
                </a:solidFill>
                <a:latin typeface="Calibri"/>
              </a:rPr>
              <a:t>714+ connectors</a:t>
            </a:r>
          </a:p>
        </p:txBody>
      </p:sp>
      <p:sp>
        <p:nvSpPr>
          <p:cNvPr id="33" name="TextBox 32"/>
          <p:cNvSpPr txBox="1"/>
          <p:nvPr/>
        </p:nvSpPr>
        <p:spPr>
          <a:xfrm>
            <a:off x="548640" y="6446520"/>
            <a:ext cx="8229600" cy="274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900" b="0" i="0">
                <a:solidFill>
                  <a:srgbClr val="2A3340"/>
                </a:solidFill>
                <a:latin typeface="Calibri"/>
              </a:rPr>
              <a:t>FortiSOAR AI Investigation &amp; Response  ·  the connector</a:t>
            </a:r>
          </a:p>
        </p:txBody>
      </p:sp>
      <p:sp>
        <p:nvSpPr>
          <p:cNvPr id="34" name="TextBox 33"/>
          <p:cNvSpPr txBox="1"/>
          <p:nvPr/>
        </p:nvSpPr>
        <p:spPr>
          <a:xfrm>
            <a:off x="11155680" y="6446520"/>
            <a:ext cx="822960" cy="274320"/>
          </a:xfrm>
          <a:prstGeom prst="rect">
            <a:avLst/>
          </a:prstGeom>
          <a:noFill/>
        </p:spPr>
        <p:txBody>
          <a:bodyPr wrap="square" anchor="t" lIns="25400" rIns="25400" tIns="25400" bIns="25400">
            <a:spAutoFit/>
          </a:bodyPr>
          <a:lstStyle/>
          <a:p>
            <a:pPr algn="r">
              <a:lnSpc>
                <a:spcPct val="100000"/>
              </a:lnSpc>
              <a:spcBef>
                <a:spcPts val="0"/>
              </a:spcBef>
              <a:spcAft>
                <a:spcPts val="400"/>
              </a:spcAft>
            </a:pPr>
            <a:r>
              <a:rPr sz="900" b="0" i="0">
                <a:solidFill>
                  <a:srgbClr val="9AA7B4"/>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607040" cy="1188720"/>
          </a:xfrm>
          <a:prstGeom prst="rect">
            <a:avLst/>
          </a:prstGeom>
          <a:noFill/>
        </p:spPr>
        <p:txBody>
          <a:bodyPr wrap="square" anchor="t" lIns="25400" rIns="25400" tIns="25400" bIns="25400">
            <a:spAutoFit/>
          </a:bodyPr>
          <a:lstStyle/>
          <a:p>
            <a:pPr algn="l">
              <a:lnSpc>
                <a:spcPct val="110000"/>
              </a:lnSpc>
              <a:spcBef>
                <a:spcPts val="0"/>
              </a:spcBef>
              <a:spcAft>
                <a:spcPts val="400"/>
              </a:spcAft>
            </a:pPr>
            <a:r>
              <a:rPr sz="3400" b="1" i="0">
                <a:solidFill>
                  <a:srgbClr val="E6EDF3"/>
                </a:solidFill>
                <a:latin typeface="Calibri"/>
              </a:rPr>
              <a:t>AI finds the pattern.</a:t>
            </a:r>
          </a:p>
          <a:p>
            <a:pPr algn="l">
              <a:lnSpc>
                <a:spcPct val="110000"/>
              </a:lnSpc>
              <a:spcBef>
                <a:spcPts val="0"/>
              </a:spcBef>
              <a:spcAft>
                <a:spcPts val="400"/>
              </a:spcAft>
            </a:pPr>
            <a:r>
              <a:rPr sz="3400" b="1" i="0">
                <a:solidFill>
                  <a:srgbClr val="3FD99B"/>
                </a:solidFill>
                <a:latin typeface="Calibri"/>
              </a:rPr>
              <a:t>A playbook runs it forever.</a:t>
            </a:r>
          </a:p>
        </p:txBody>
      </p:sp>
      <p:sp>
        <p:nvSpPr>
          <p:cNvPr id="5" name="TextBox 4"/>
          <p:cNvSpPr txBox="1"/>
          <p:nvPr/>
        </p:nvSpPr>
        <p:spPr>
          <a:xfrm>
            <a:off x="868680" y="3200400"/>
            <a:ext cx="106070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4C9AFF"/>
                </a:solidFill>
                <a:latin typeface="Calibri"/>
              </a:rPr>
              <a:t>→  </a:t>
            </a:r>
            <a:r>
              <a:rPr sz="1600" b="0" i="0">
                <a:solidFill>
                  <a:srgbClr val="E6EDF3"/>
                </a:solidFill>
                <a:latin typeface="Calibri"/>
              </a:rPr>
              <a:t>It investigates across your real stack — Fortinet and any third-party tool or SIEM.</a:t>
            </a:r>
          </a:p>
        </p:txBody>
      </p:sp>
      <p:sp>
        <p:nvSpPr>
          <p:cNvPr id="6" name="TextBox 5"/>
          <p:cNvSpPr txBox="1"/>
          <p:nvPr/>
        </p:nvSpPr>
        <p:spPr>
          <a:xfrm>
            <a:off x="868680" y="3767328"/>
            <a:ext cx="106070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4C9AFF"/>
                </a:solidFill>
                <a:latin typeface="Calibri"/>
              </a:rPr>
              <a:t>→  </a:t>
            </a:r>
            <a:r>
              <a:rPr sz="1600" b="0" i="0">
                <a:solidFill>
                  <a:srgbClr val="E6EDF3"/>
                </a:solidFill>
                <a:latin typeface="Calibri"/>
              </a:rPr>
              <a:t>It reaches on-prem and isolated targets the cloud alone can't — and returns the result.</a:t>
            </a:r>
          </a:p>
        </p:txBody>
      </p:sp>
      <p:sp>
        <p:nvSpPr>
          <p:cNvPr id="7" name="TextBox 6"/>
          <p:cNvSpPr txBox="1"/>
          <p:nvPr/>
        </p:nvSpPr>
        <p:spPr>
          <a:xfrm>
            <a:off x="868680" y="4334256"/>
            <a:ext cx="106070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4C9AFF"/>
                </a:solidFill>
                <a:latin typeface="Calibri"/>
              </a:rPr>
              <a:t>→  </a:t>
            </a:r>
            <a:r>
              <a:rPr sz="1600" b="0" i="0">
                <a:solidFill>
                  <a:srgbClr val="E6EDF3"/>
                </a:solidFill>
                <a:latin typeface="Calibri"/>
              </a:rPr>
              <a:t>State-changing actions are tier-gated and analyst-approved — never silent.</a:t>
            </a:r>
          </a:p>
        </p:txBody>
      </p:sp>
      <p:sp>
        <p:nvSpPr>
          <p:cNvPr id="8" name="TextBox 7"/>
          <p:cNvSpPr txBox="1"/>
          <p:nvPr/>
        </p:nvSpPr>
        <p:spPr>
          <a:xfrm>
            <a:off x="868680" y="4901184"/>
            <a:ext cx="10607040" cy="45720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600" b="1" i="0">
                <a:solidFill>
                  <a:srgbClr val="4C9AFF"/>
                </a:solidFill>
                <a:latin typeface="Calibri"/>
              </a:rPr>
              <a:t>→  </a:t>
            </a:r>
            <a:r>
              <a:rPr sz="1600" b="0" i="0">
                <a:solidFill>
                  <a:srgbClr val="E6EDF3"/>
                </a:solidFill>
                <a:latin typeface="Calibri"/>
              </a:rPr>
              <a:t>Every investigation can be bottled into a deterministic playbook — value compounds.</a:t>
            </a:r>
          </a:p>
        </p:txBody>
      </p:sp>
      <p:sp>
        <p:nvSpPr>
          <p:cNvPr id="9" name="TextBox 8"/>
          <p:cNvSpPr txBox="1"/>
          <p:nvPr/>
        </p:nvSpPr>
        <p:spPr>
          <a:xfrm>
            <a:off x="868680" y="5897880"/>
            <a:ext cx="10058400" cy="36576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200" b="0" i="0">
                <a:solidFill>
                  <a:srgbClr val="9AA7B4"/>
                </a:solidFill>
                <a:latin typeface="Calibri"/>
              </a:rPr>
              <a:t>In-platform connector · AngularJS widget · live on FortiCloud SOAR 7.6.5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