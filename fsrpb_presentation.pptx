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E83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377440"/>
            <a:ext cx="1109441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0F1E3D"/>
                </a:solidFill>
                <a:latin typeface="Helvetica"/>
              </a:rPr>
              <a:t>Agent-Authored Playbooks for FortiSOAR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657600"/>
            <a:ext cx="110944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4A4A4A"/>
                </a:solidFill>
                <a:latin typeface="Helvetica"/>
              </a:rPr>
              <a:t>AI is the driver — but the deterministic cornerstones are why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03504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83E3E"/>
                </a:solidFill>
                <a:latin typeface="Helvetica"/>
              </a:rPr>
              <a:t>FSRPlaybookYaml — fsrpb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E83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E3D"/>
                </a:solidFill>
                <a:latin typeface="Helvetica"/>
              </a:rPr>
              <a:t>The pain we keep hitting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9441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Playbook Designer is click-heavy, opaque, and not diff-able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Iteration loop is slow: edit → save → run → squint at run-log → repeat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Field-shape bugs (.records vs .data, Jinja typos) only surface at runtime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No version control, no PR review, no portability between environments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Talented automation engineers spend their day clicking, not designing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E83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E3D"/>
                </a:solidFill>
                <a:latin typeface="Helvetica"/>
              </a:rPr>
              <a:t>The product principle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9441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"Producing valid YAML is the start of the job, not the end."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A playbook is useless if it doesn't run on a real FSR and produce the asked-for outcome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So the system has to prove playbooks work, not just compile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Everything that follows serves that one principle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E83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E3D"/>
                </a:solidFill>
                <a:latin typeface="Helvetica"/>
              </a:rPr>
              <a:t>Why AI is the right driver 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9441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Playbook authoring is structured + bounded — exactly where modern LLMs shine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The hard parts are knowing which connector / op / picklist exists, not invention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Natural language → YAML is the right abstraction step; LLMs skip the click-through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Agentic tool use means the model asks the system instead of guessing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Bottleneck moved: not "can the model write YAML" but "can it verify what it wrote"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E83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E3D"/>
                </a:solidFill>
                <a:latin typeface="Helvetica"/>
              </a:rPr>
              <a:t>But this is more than "just AI"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9441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An LLM alone hallucinates connectors, invents picklist values, mistypes vars.steps paths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Without verification it's a faster way to ship broken playbooks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The cornerstones below are deterministic, queryable, and ground-truth — they make AI safe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Each one stands alone as a tool a human can run; together they close the loop on AI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If you remove the AI tomorrow, every cornerstone is still a useful authoring + audit tool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E83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E3D"/>
                </a:solidFill>
                <a:latin typeface="Helvetica"/>
              </a:rPr>
              <a:t>The cornerstones (six pillars under the AI layer)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9441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1.  SQLite reference store — connectors, ops, picklists, step types, Jinja, recipes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2.  Library-first compiler — parser → resolver → validator → emitter, errors as data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3.  Render-path validator — simulate playbooks offline, surface data-access bugs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4.  Live-FSR probes — capture real runtime semantics into reusable fixtures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5.  Step-param audit — corpus-driven param truth, surfaces resolver gaps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6.  MCP toolbelt — every cornerstone is callable by the agent or a human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E83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E3D"/>
                </a:solidFill>
                <a:latin typeface="Helvetica"/>
              </a:rPr>
              <a:t>The core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9441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One simplified YAML IR. Three authoring surfaces (CLI, agent-via-MCP, future visual editor)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All three compile through the same pipeline to native FSR WorkflowCollection JSON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FortiSOAR stays the execution engine — we never replace it, we author into it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Same IR across surfaces → output is interoperable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78327" y="4206240"/>
            <a:ext cx="1828800" cy="640080"/>
          </a:xfrm>
          <a:prstGeom prst="roundRect">
            <a:avLst/>
          </a:prstGeom>
          <a:solidFill>
            <a:srgbClr val="0F1E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  <a:latin typeface="Helvetica"/>
              </a:rPr>
              <a:t>Human (CLI)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181447" y="4206240"/>
            <a:ext cx="1828800" cy="640080"/>
          </a:xfrm>
          <a:prstGeom prst="roundRect">
            <a:avLst/>
          </a:prstGeom>
          <a:solidFill>
            <a:srgbClr val="0F1E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  <a:latin typeface="Helvetica"/>
              </a:rPr>
              <a:t>Agent (MCP)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84567" y="4206240"/>
            <a:ext cx="1828800" cy="640080"/>
          </a:xfrm>
          <a:prstGeom prst="roundRect">
            <a:avLst/>
          </a:prstGeom>
          <a:solidFill>
            <a:srgbClr val="0F1E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  <a:latin typeface="Helvetica"/>
              </a:rPr>
              <a:t>Visual editor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01287" y="5120640"/>
            <a:ext cx="1828800" cy="640080"/>
          </a:xfrm>
          <a:prstGeom prst="roundRect">
            <a:avLst/>
          </a:prstGeom>
          <a:solidFill>
            <a:srgbClr val="E83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YAML IR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61607" y="5120640"/>
            <a:ext cx="1828800" cy="640080"/>
          </a:xfrm>
          <a:prstGeom prst="roundRect">
            <a:avLst/>
          </a:prstGeom>
          <a:solidFill>
            <a:srgbClr val="0F1E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Compiler → FSR JSON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E83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E3D"/>
                </a:solidFill>
                <a:latin typeface="Helvetica"/>
              </a:rPr>
              <a:t>Why YAML is the right 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9441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Human-readable, diff-able, review-able in a PR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Trivially round-trippable: pull from FSR → YAML → edit → push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Easy for an LLM to emit and reason about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No vendor JSON ceremony (UUIDs, port coords, layout metadata) leaks into authoring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E83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E3D"/>
                </a:solidFill>
                <a:latin typeface="Helvetica"/>
              </a:rPr>
              <a:t>Design 1 — SQLite-first reference store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9441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714 connectors, 6,773 ops, 26K params, 43 step types, 172 Jinja filters, 1,664 playbooks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FTS-indexed; one SQL query per agent question — no LLM where a lookup will do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Probes refresh from the live appliance — compiler stays stable while the world changes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Trust ladder (live_*, tested_pass → is_trusted=1) flags unverified data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E83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E3D"/>
                </a:solidFill>
                <a:latin typeface="Helvetica"/>
              </a:rPr>
              <a:t>Design 2 — Library-first compiler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9441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Pipeline: parser → resolver → validator → emitter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Compiler is a Python library; CLI, MCP server, web app are thin wrappers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Errors are data, not strings — every diagnostic has a code, line/col, suggested fix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Round-trip (compile → decompile) is lossless modulo formatting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E83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E3D"/>
                </a:solidFill>
                <a:latin typeface="Helvetica"/>
              </a:rPr>
              <a:t>Cornerstone 3 — Render-path validator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9441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Simulates the playbook offline before any push: every step's rendered args + output shape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Per-step provenance: mock_result · computed · live_run · default_empty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Catches what validate_yaml can't: vars.steps.X.Y typos, missing keys, type drift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Static extractor finds every vars.…, picklist(), Jinja reference per step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Heuristic checks (C1-C4): unreachable refs, missing keys, required-empty, picklist drift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Surfaces close-key suggestions deterministically — no LLM in the diagnostic itself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E83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E3D"/>
                </a:solidFill>
                <a:latin typeface="Helvetica"/>
              </a:rPr>
              <a:t>Cornerstone 4 — Live-FSR probes ground simulator truth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9441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Probes synthesize tiny playbooks, push, fire, capture full run env into JSON fixtures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9 scenarios so far: for_each (sequential / parallel / break / empty / condition), workflow_reference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Catches non-obvious truths: vars.steps.&lt;for_each&gt; is list-of-dicts, not last-value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Pinned in agent prompt as facts the LLM must not invent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Same fixtures back parametrized parity tests — drift on either side surfaces immediately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Re-runnable per scenario; new constructs become probes, not guesses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E83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E3D"/>
                </a:solidFill>
                <a:latin typeface="Helvetica"/>
              </a:rPr>
              <a:t>Cornerstone 5 — Step-param audit (corpus-driven truth)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9441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fsrpb dump-step-params writes one Markdown report per step type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Combines: resolver allowlist + 7,442 corpus rows of real arg keys + frequency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Highlights gaps: resolver doesn't accept a key the corpus uses 305× (e.g. FindRecords.query)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Already surfaced 5+ resolver allowlist holes; each gap is a one-line fix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Lives in docs/step_params/ — agent greps these instead of trusting training intuition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Re-generated on demand; stays aligned as FSR evolves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E83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E3D"/>
                </a:solidFill>
                <a:latin typeface="Helvetica"/>
              </a:rPr>
              <a:t>Cornerstone 6 — MCP as the agent contract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9441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30+ MCP tools — every cornerstone is callable by name with structured I/O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find_connector · get_op_schema · validate_yaml · compile_yaml · render_jinja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analyze_playbook · suggest_fix_for_diagnostic · step_test · step_through_playbook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run_op · get_run_env · resolve_picklist_value · find_step_examples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search_api_examples · synthesize_http_step · find_recipe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LLM-agnostic by construction: any model that does tool use can drive this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E83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E3D"/>
                </a:solidFill>
                <a:latin typeface="Helvetica"/>
              </a:rPr>
              <a:t>The success ladder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9441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L1 Compile — structurally valid YAML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L2 Static-resolve — connectors / ops / picklists / step-types / Jinja vars all exist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L3 Dry-run — step args render against expected upstream context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L4 Live single-step — step N actually executes on real FSR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L5 Post-run assert — playbook produced the asked-for outcome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Each rung is deterministic + an MCP tool; failure returns structured {ok, code, suggestions}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3727" y="4572000"/>
            <a:ext cx="2103120" cy="914400"/>
          </a:xfrm>
          <a:prstGeom prst="roundRect">
            <a:avLst/>
          </a:prstGeom>
          <a:solidFill>
            <a:srgbClr val="0F1E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FFFFFF"/>
                </a:solidFill>
                <a:latin typeface="Helvetica"/>
              </a:rPr>
              <a:t>L1</a:t>
            </a:r>
          </a:p>
          <a:p>
            <a:pPr algn="ctr"/>
            <a:r>
              <a:rPr sz="1200">
                <a:solidFill>
                  <a:srgbClr val="FFFFFF"/>
                </a:solidFill>
                <a:latin typeface="Helvetica"/>
              </a:rPr>
              <a:t>Compile</a:t>
            </a:r>
          </a:p>
          <a:p>
            <a:pPr algn="ctr"/>
            <a:r>
              <a:rPr sz="1200">
                <a:solidFill>
                  <a:srgbClr val="FFFFFF"/>
                </a:solidFill>
                <a:latin typeface="Helvetica"/>
              </a:rPr>
              <a:t>[done]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04007" y="4572000"/>
            <a:ext cx="2103120" cy="914400"/>
          </a:xfrm>
          <a:prstGeom prst="roundRect">
            <a:avLst/>
          </a:prstGeom>
          <a:solidFill>
            <a:srgbClr val="C88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FFFFFF"/>
                </a:solidFill>
                <a:latin typeface="Helvetica"/>
              </a:rPr>
              <a:t>L2</a:t>
            </a:r>
          </a:p>
          <a:p>
            <a:pPr algn="ctr"/>
            <a:r>
              <a:rPr sz="1200">
                <a:solidFill>
                  <a:srgbClr val="FFFFFF"/>
                </a:solidFill>
                <a:latin typeface="Helvetica"/>
              </a:rPr>
              <a:t>Static-resolve</a:t>
            </a:r>
          </a:p>
          <a:p>
            <a:pPr algn="ctr"/>
            <a:r>
              <a:rPr sz="1200">
                <a:solidFill>
                  <a:srgbClr val="FFFFFF"/>
                </a:solidFill>
                <a:latin typeface="Helvetica"/>
              </a:rPr>
              <a:t>[partial]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44287" y="4572000"/>
            <a:ext cx="2103120" cy="914400"/>
          </a:xfrm>
          <a:prstGeom prst="roundRect">
            <a:avLst/>
          </a:prstGeom>
          <a:solidFill>
            <a:srgbClr val="E83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FFFFFF"/>
                </a:solidFill>
                <a:latin typeface="Helvetica"/>
              </a:rPr>
              <a:t>L3</a:t>
            </a:r>
          </a:p>
          <a:p>
            <a:pPr algn="ctr"/>
            <a:r>
              <a:rPr sz="1200">
                <a:solidFill>
                  <a:srgbClr val="FFFFFF"/>
                </a:solidFill>
                <a:latin typeface="Helvetica"/>
              </a:rPr>
              <a:t>Dry-run</a:t>
            </a:r>
          </a:p>
          <a:p>
            <a:pPr algn="ctr"/>
            <a:r>
              <a:rPr sz="1200">
                <a:solidFill>
                  <a:srgbClr val="FFFFFF"/>
                </a:solidFill>
                <a:latin typeface="Helvetica"/>
              </a:rPr>
              <a:t>[missing]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84567" y="4572000"/>
            <a:ext cx="2103120" cy="914400"/>
          </a:xfrm>
          <a:prstGeom prst="roundRect">
            <a:avLst/>
          </a:prstGeom>
          <a:solidFill>
            <a:srgbClr val="C88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FFFFFF"/>
                </a:solidFill>
                <a:latin typeface="Helvetica"/>
              </a:rPr>
              <a:t>L4</a:t>
            </a:r>
          </a:p>
          <a:p>
            <a:pPr algn="ctr"/>
            <a:r>
              <a:rPr sz="1200">
                <a:solidFill>
                  <a:srgbClr val="FFFFFF"/>
                </a:solidFill>
                <a:latin typeface="Helvetica"/>
              </a:rPr>
              <a:t>Live step</a:t>
            </a:r>
          </a:p>
          <a:p>
            <a:pPr algn="ctr"/>
            <a:r>
              <a:rPr sz="1200">
                <a:solidFill>
                  <a:srgbClr val="FFFFFF"/>
                </a:solidFill>
                <a:latin typeface="Helvetica"/>
              </a:rPr>
              <a:t>[half]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24847" y="4572000"/>
            <a:ext cx="2103120" cy="914400"/>
          </a:xfrm>
          <a:prstGeom prst="roundRect">
            <a:avLst/>
          </a:prstGeom>
          <a:solidFill>
            <a:srgbClr val="E83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FFFFFF"/>
                </a:solidFill>
                <a:latin typeface="Helvetica"/>
              </a:rPr>
              <a:t>L5</a:t>
            </a:r>
          </a:p>
          <a:p>
            <a:pPr algn="ctr"/>
            <a:r>
              <a:rPr sz="1200">
                <a:solidFill>
                  <a:srgbClr val="FFFFFF"/>
                </a:solidFill>
                <a:latin typeface="Helvetica"/>
              </a:rPr>
              <a:t>Post-run assert</a:t>
            </a:r>
          </a:p>
          <a:p>
            <a:pPr algn="ctr"/>
            <a:r>
              <a:rPr sz="1200">
                <a:solidFill>
                  <a:srgbClr val="FFFFFF"/>
                </a:solidFill>
                <a:latin typeface="Helvetica"/>
              </a:rPr>
              <a:t>[missing]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E83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E3D"/>
                </a:solidFill>
                <a:latin typeface="Helvetica"/>
              </a:rPr>
              <a:t>The agent prompt — workflow gates that close the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9441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Hard rules pin the YAML shape — no negotiation on canonical form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Required workflow: recipe lookup → schema lookup → draft → validate → analyze → done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Mandatory analyze gate: do NOT declare done until error_count == 0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Per-diagnostic-kind fix strategies baked into the prompt — no prose freelancing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FSR runtime semantics block: live-verified shapes the LLM must not invent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Tool error contract: failures return {ok:false, code, suggestions} — agent retries structurally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E83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E3D"/>
                </a:solidFill>
                <a:latin typeface="Helvetica"/>
              </a:rPr>
              <a:t>Two distinct agent flows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9441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Authoring (new playbook): intent → recipes → schemas → YAML → validate → analyze → push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    "Build me a playbook to enrich every alert with VirusTotal"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Troubleshooting (existing): pull → analyze → suggest_fix → patch → re-analyze → diff → push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    "My playbook is broken — figure it out"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Same MCP tools, same cornerstones — what changes is the entry point + the gate order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If the agent skips the analyze gate, the runtime catches it. The system is the safety net.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11880"/>
            <a:ext cx="5410047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300">
                <a:solidFill>
                  <a:srgbClr val="0F1E3D"/>
                </a:solidFill>
                <a:latin typeface="Helvetica"/>
              </a:rPr>
              <a:t>Authoring (new)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023360"/>
            <a:ext cx="733675" cy="502920"/>
          </a:xfrm>
          <a:prstGeom prst="roundRect">
            <a:avLst/>
          </a:prstGeom>
          <a:solidFill>
            <a:srgbClr val="0F1E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FFFFFF"/>
                </a:solidFill>
                <a:latin typeface="Helvetica"/>
              </a:rPr>
              <a:t>intent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28035" y="4023360"/>
            <a:ext cx="733675" cy="502920"/>
          </a:xfrm>
          <a:prstGeom prst="roundRect">
            <a:avLst/>
          </a:prstGeom>
          <a:solidFill>
            <a:srgbClr val="0F1E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FFFFFF"/>
                </a:solidFill>
                <a:latin typeface="Helvetica"/>
              </a:rPr>
              <a:t>find_recipe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07430" y="4023360"/>
            <a:ext cx="733675" cy="502920"/>
          </a:xfrm>
          <a:prstGeom prst="roundRect">
            <a:avLst/>
          </a:prstGeom>
          <a:solidFill>
            <a:srgbClr val="0F1E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FFFFFF"/>
                </a:solidFill>
                <a:latin typeface="Helvetica"/>
              </a:rPr>
              <a:t>find_operation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86825" y="4023360"/>
            <a:ext cx="733675" cy="502920"/>
          </a:xfrm>
          <a:prstGeom prst="roundRect">
            <a:avLst/>
          </a:prstGeom>
          <a:solidFill>
            <a:srgbClr val="0F1E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FFFFFF"/>
                </a:solidFill>
                <a:latin typeface="Helvetica"/>
              </a:rPr>
              <a:t>draft YAML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66221" y="4023360"/>
            <a:ext cx="733675" cy="502920"/>
          </a:xfrm>
          <a:prstGeom prst="roundRect">
            <a:avLst/>
          </a:prstGeom>
          <a:solidFill>
            <a:srgbClr val="0F1E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FFFFFF"/>
                </a:solidFill>
                <a:latin typeface="Helvetica"/>
              </a:rPr>
              <a:t>validate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5616" y="4023360"/>
            <a:ext cx="733675" cy="502920"/>
          </a:xfrm>
          <a:prstGeom prst="roundRect">
            <a:avLst/>
          </a:prstGeom>
          <a:solidFill>
            <a:srgbClr val="0F1E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FFFFFF"/>
                </a:solidFill>
                <a:latin typeface="Helvetica"/>
              </a:rPr>
              <a:t>analyze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25011" y="4023360"/>
            <a:ext cx="733675" cy="502920"/>
          </a:xfrm>
          <a:prstGeom prst="roundRect">
            <a:avLst/>
          </a:prstGeom>
          <a:solidFill>
            <a:srgbClr val="0F1E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FFFFFF"/>
                </a:solidFill>
                <a:latin typeface="Helvetica"/>
              </a:rPr>
              <a:t>push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3007" y="3611880"/>
            <a:ext cx="5410047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300">
                <a:solidFill>
                  <a:srgbClr val="E83E3E"/>
                </a:solidFill>
                <a:latin typeface="Helvetica"/>
              </a:rPr>
              <a:t>Troubleshooting (existing)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3007" y="4023360"/>
            <a:ext cx="733675" cy="502920"/>
          </a:xfrm>
          <a:prstGeom prst="roundRect">
            <a:avLst/>
          </a:prstGeom>
          <a:solidFill>
            <a:srgbClr val="E83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FFFFFF"/>
                </a:solidFill>
                <a:latin typeface="Helvetica"/>
              </a:rPr>
              <a:t>pull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12402" y="4023360"/>
            <a:ext cx="733675" cy="502920"/>
          </a:xfrm>
          <a:prstGeom prst="roundRect">
            <a:avLst/>
          </a:prstGeom>
          <a:solidFill>
            <a:srgbClr val="E83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FFFFFF"/>
                </a:solidFill>
                <a:latin typeface="Helvetica"/>
              </a:rPr>
              <a:t>analyze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91797" y="4023360"/>
            <a:ext cx="733675" cy="502920"/>
          </a:xfrm>
          <a:prstGeom prst="roundRect">
            <a:avLst/>
          </a:prstGeom>
          <a:solidFill>
            <a:srgbClr val="E83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FFFFFF"/>
                </a:solidFill>
                <a:latin typeface="Helvetica"/>
              </a:rPr>
              <a:t>diagnostics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71192" y="4023360"/>
            <a:ext cx="733675" cy="502920"/>
          </a:xfrm>
          <a:prstGeom prst="roundRect">
            <a:avLst/>
          </a:prstGeom>
          <a:solidFill>
            <a:srgbClr val="E83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FFFFFF"/>
                </a:solidFill>
                <a:latin typeface="Helvetica"/>
              </a:rPr>
              <a:t>suggest_fix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50588" y="4023360"/>
            <a:ext cx="733675" cy="502920"/>
          </a:xfrm>
          <a:prstGeom prst="roundRect">
            <a:avLst/>
          </a:prstGeom>
          <a:solidFill>
            <a:srgbClr val="E83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FFFFFF"/>
                </a:solidFill>
                <a:latin typeface="Helvetica"/>
              </a:rPr>
              <a:t>patch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129983" y="4023360"/>
            <a:ext cx="733675" cy="502920"/>
          </a:xfrm>
          <a:prstGeom prst="roundRect">
            <a:avLst/>
          </a:prstGeom>
          <a:solidFill>
            <a:srgbClr val="E83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FFFFFF"/>
                </a:solidFill>
                <a:latin typeface="Helvetica"/>
              </a:rPr>
              <a:t>re-analyze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909378" y="4023360"/>
            <a:ext cx="733675" cy="502920"/>
          </a:xfrm>
          <a:prstGeom prst="roundRect">
            <a:avLst/>
          </a:prstGeom>
          <a:solidFill>
            <a:srgbClr val="E83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>
                <a:solidFill>
                  <a:srgbClr val="FFFFFF"/>
                </a:solidFill>
                <a:latin typeface="Helvetica"/>
              </a:rPr>
              <a:t>diff/push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212080"/>
            <a:ext cx="110944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4A4A4A"/>
                </a:solidFill>
                <a:latin typeface="Helvetica"/>
              </a:rPr>
              <a:t>Both flows share the same MCP tools. The analyze gate is the seatbelt — it can't be bypassed by either flow.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E83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E3D"/>
                </a:solidFill>
                <a:latin typeface="Helvetica"/>
              </a:rPr>
              <a:t>The visual editor closes the loop for humans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9441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Same cornerstones, rendered as canvas chrome: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    • Per-node red/amber badge keyed off worst diagnostic for that step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    • Diagnostics drawer lists every render-path issue with kind + location + suggestion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    • Suggest-fix button per row → before/after diff → Apply → auto re-analyze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    • Click step_id → canvas jumps to the offending node, inspector opens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    • Node colors mirror the simulator's family tagging — no hidden context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Every action goes through the same MCP tools the agent uses. One source of truth.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E83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E3D"/>
                </a:solidFill>
                <a:latin typeface="Helvetica"/>
              </a:rPr>
              <a:t>The full MCP toolbelt — 49 tools the agent can call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A4A4A"/>
                </a:solidFill>
                <a:latin typeface="Helvetica"/>
              </a:rPr>
              <a:t>Same tools serve chat, CLI, and visual editor. Every box below is one MCP call away.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45920"/>
            <a:ext cx="2109155" cy="411480"/>
          </a:xfrm>
          <a:prstGeom prst="rect">
            <a:avLst/>
          </a:prstGeom>
          <a:solidFill>
            <a:srgbClr val="0F1E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Helvetica"/>
              </a:rPr>
              <a:t>Discover  (23)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03120"/>
            <a:ext cx="2109155" cy="4297680"/>
          </a:xfrm>
          <a:prstGeom prst="rect">
            <a:avLst/>
          </a:prstGeom>
          <a:noFill/>
        </p:spPr>
        <p:txBody>
          <a:bodyPr wrap="square" rIns="45720">
            <a:spAutoFit/>
          </a:bodyPr>
          <a:lstStyle/>
          <a:p>
            <a:pPr algn="l"/>
            <a:r>
              <a:rPr sz="800">
                <a:solidFill>
                  <a:srgbClr val="0F1E3D"/>
                </a:solidFill>
                <a:latin typeface="Menlo"/>
              </a:rPr>
              <a:t>find_connector</a:t>
            </a:r>
          </a:p>
          <a:p>
            <a:pPr algn="l"/>
            <a:r>
              <a:rPr sz="800">
                <a:solidFill>
                  <a:srgbClr val="0F1E3D"/>
                </a:solidFill>
                <a:latin typeface="Menlo"/>
              </a:rPr>
              <a:t>find_operation</a:t>
            </a:r>
          </a:p>
          <a:p>
            <a:pPr algn="l"/>
            <a:r>
              <a:rPr sz="800">
                <a:solidFill>
                  <a:srgbClr val="0F1E3D"/>
                </a:solidFill>
                <a:latin typeface="Menlo"/>
              </a:rPr>
              <a:t>find_step_type</a:t>
            </a:r>
          </a:p>
          <a:p>
            <a:pPr algn="l"/>
            <a:r>
              <a:rPr sz="800">
                <a:solidFill>
                  <a:srgbClr val="0F1E3D"/>
                </a:solidFill>
                <a:latin typeface="Menlo"/>
              </a:rPr>
              <a:t>find_step_examples</a:t>
            </a:r>
          </a:p>
          <a:p>
            <a:pPr algn="l"/>
            <a:r>
              <a:rPr sz="800">
                <a:solidFill>
                  <a:srgbClr val="0F1E3D"/>
                </a:solidFill>
                <a:latin typeface="Menlo"/>
              </a:rPr>
              <a:t>find_operation_example</a:t>
            </a:r>
          </a:p>
          <a:p>
            <a:pPr algn="l"/>
            <a:r>
              <a:rPr sz="800">
                <a:solidFill>
                  <a:srgbClr val="0F1E3D"/>
                </a:solidFill>
                <a:latin typeface="Menlo"/>
              </a:rPr>
              <a:t>find_recipe</a:t>
            </a:r>
          </a:p>
          <a:p>
            <a:pPr algn="l"/>
            <a:r>
              <a:rPr sz="800">
                <a:solidFill>
                  <a:srgbClr val="0F1E3D"/>
                </a:solidFill>
                <a:latin typeface="Menlo"/>
              </a:rPr>
              <a:t>find_step_recipe</a:t>
            </a:r>
          </a:p>
          <a:p>
            <a:pPr algn="l"/>
            <a:r>
              <a:rPr sz="800">
                <a:solidFill>
                  <a:srgbClr val="0F1E3D"/>
                </a:solidFill>
                <a:latin typeface="Menlo"/>
              </a:rPr>
              <a:t>find_jinja_filter</a:t>
            </a:r>
          </a:p>
          <a:p>
            <a:pPr algn="l"/>
            <a:r>
              <a:rPr sz="800">
                <a:solidFill>
                  <a:srgbClr val="0F1E3D"/>
                </a:solidFill>
                <a:latin typeface="Menlo"/>
              </a:rPr>
              <a:t>find_jinja_pattern</a:t>
            </a:r>
          </a:p>
          <a:p>
            <a:pPr algn="l"/>
            <a:r>
              <a:rPr sz="800">
                <a:solidFill>
                  <a:srgbClr val="0F1E3D"/>
                </a:solidFill>
                <a:latin typeface="Menlo"/>
              </a:rPr>
              <a:t>find_jinja_example</a:t>
            </a:r>
          </a:p>
          <a:p>
            <a:pPr algn="l"/>
            <a:r>
              <a:rPr sz="800">
                <a:solidFill>
                  <a:srgbClr val="0F1E3D"/>
                </a:solidFill>
                <a:latin typeface="Menlo"/>
              </a:rPr>
              <a:t>get_filter_examples</a:t>
            </a:r>
          </a:p>
          <a:p>
            <a:pPr algn="l"/>
            <a:r>
              <a:rPr sz="800">
                <a:solidFill>
                  <a:srgbClr val="0F1E3D"/>
                </a:solidFill>
                <a:latin typeface="Menlo"/>
              </a:rPr>
              <a:t>get_op_schema</a:t>
            </a:r>
          </a:p>
          <a:p>
            <a:pPr algn="l"/>
            <a:r>
              <a:rPr sz="800">
                <a:solidFill>
                  <a:srgbClr val="0F1E3D"/>
                </a:solidFill>
                <a:latin typeface="Menlo"/>
              </a:rPr>
              <a:t>get_step_type</a:t>
            </a:r>
          </a:p>
          <a:p>
            <a:pPr algn="l"/>
            <a:r>
              <a:rPr sz="800">
                <a:solidFill>
                  <a:srgbClr val="0F1E3D"/>
                </a:solidFill>
                <a:latin typeface="Menlo"/>
              </a:rPr>
              <a:t>get_picklist</a:t>
            </a:r>
          </a:p>
          <a:p>
            <a:pPr algn="l"/>
            <a:r>
              <a:rPr sz="800">
                <a:solidFill>
                  <a:srgbClr val="0F1E3D"/>
                </a:solidFill>
                <a:latin typeface="Menlo"/>
              </a:rPr>
              <a:t>list_picklists</a:t>
            </a:r>
          </a:p>
          <a:p>
            <a:pPr algn="l"/>
            <a:r>
              <a:rPr sz="800">
                <a:solidFill>
                  <a:srgbClr val="0F1E3D"/>
                </a:solidFill>
                <a:latin typeface="Menlo"/>
              </a:rPr>
              <a:t>picklist_for_field</a:t>
            </a:r>
          </a:p>
          <a:p>
            <a:pPr algn="l"/>
            <a:r>
              <a:rPr sz="800">
                <a:solidFill>
                  <a:srgbClr val="0F1E3D"/>
                </a:solidFill>
                <a:latin typeface="Menlo"/>
              </a:rPr>
              <a:t>search_playbooks</a:t>
            </a:r>
          </a:p>
          <a:p>
            <a:pPr algn="l"/>
            <a:r>
              <a:rPr sz="800">
                <a:solidFill>
                  <a:srgbClr val="0F1E3D"/>
                </a:solidFill>
                <a:latin typeface="Menlo"/>
              </a:rPr>
              <a:t>search_api_examples</a:t>
            </a:r>
          </a:p>
          <a:p>
            <a:pPr algn="l"/>
            <a:r>
              <a:rPr sz="800">
                <a:solidFill>
                  <a:srgbClr val="0F1E3D"/>
                </a:solidFill>
                <a:latin typeface="Menlo"/>
              </a:rPr>
              <a:t>list_tags</a:t>
            </a:r>
          </a:p>
          <a:p>
            <a:pPr algn="l"/>
            <a:r>
              <a:rPr sz="800">
                <a:solidFill>
                  <a:srgbClr val="0F1E3D"/>
                </a:solidFill>
                <a:latin typeface="Menlo"/>
              </a:rPr>
              <a:t>list_configured_connectors</a:t>
            </a:r>
          </a:p>
          <a:p>
            <a:pPr algn="l"/>
            <a:r>
              <a:rPr sz="800">
                <a:solidFill>
                  <a:srgbClr val="0F1E3D"/>
                </a:solidFill>
                <a:latin typeface="Menlo"/>
              </a:rPr>
              <a:t>list_connector_configurations</a:t>
            </a:r>
          </a:p>
          <a:p>
            <a:pPr algn="l"/>
            <a:r>
              <a:rPr sz="800">
                <a:solidFill>
                  <a:srgbClr val="0F1E3D"/>
                </a:solidFill>
                <a:latin typeface="Menlo"/>
              </a:rPr>
              <a:t>get_connector_icon</a:t>
            </a:r>
          </a:p>
          <a:p>
            <a:pPr algn="l"/>
            <a:r>
              <a:rPr sz="800">
                <a:solidFill>
                  <a:srgbClr val="0F1E3D"/>
                </a:solidFill>
                <a:latin typeface="Menlo"/>
              </a:rPr>
              <a:t>get_connector_source</a:t>
            </a:r>
          </a:p>
        </p:txBody>
      </p:sp>
      <p:sp>
        <p:nvSpPr>
          <p:cNvPr id="7" name="Rectangle 6"/>
          <p:cNvSpPr/>
          <p:nvPr/>
        </p:nvSpPr>
        <p:spPr>
          <a:xfrm>
            <a:off x="2794955" y="1645920"/>
            <a:ext cx="2109155" cy="411480"/>
          </a:xfrm>
          <a:prstGeom prst="rect">
            <a:avLst/>
          </a:prstGeom>
          <a:solidFill>
            <a:srgbClr val="E83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Helvetica"/>
              </a:rPr>
              <a:t>Build  (3)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94955" y="2103120"/>
            <a:ext cx="2109155" cy="4297680"/>
          </a:xfrm>
          <a:prstGeom prst="rect">
            <a:avLst/>
          </a:prstGeom>
          <a:noFill/>
        </p:spPr>
        <p:txBody>
          <a:bodyPr wrap="square" rIns="45720">
            <a:spAutoFit/>
          </a:bodyPr>
          <a:lstStyle/>
          <a:p>
            <a:pPr algn="l"/>
            <a:r>
              <a:rPr sz="1000">
                <a:solidFill>
                  <a:srgbClr val="0F1E3D"/>
                </a:solidFill>
                <a:latin typeface="Menlo"/>
              </a:rPr>
              <a:t>generate_recipe</a:t>
            </a:r>
          </a:p>
          <a:p>
            <a:pPr algn="l"/>
            <a:r>
              <a:rPr sz="1000">
                <a:solidFill>
                  <a:srgbClr val="0F1E3D"/>
                </a:solidFill>
                <a:latin typeface="Menlo"/>
              </a:rPr>
              <a:t>synthesize_http_step</a:t>
            </a:r>
          </a:p>
          <a:p>
            <a:pPr algn="l"/>
            <a:r>
              <a:rPr sz="1000">
                <a:solidFill>
                  <a:srgbClr val="0F1E3D"/>
                </a:solidFill>
                <a:latin typeface="Menlo"/>
              </a:rPr>
              <a:t>resolve_picklist_value</a:t>
            </a:r>
          </a:p>
        </p:txBody>
      </p:sp>
      <p:sp>
        <p:nvSpPr>
          <p:cNvPr id="9" name="Rectangle 8"/>
          <p:cNvSpPr/>
          <p:nvPr/>
        </p:nvSpPr>
        <p:spPr>
          <a:xfrm>
            <a:off x="5041270" y="1645920"/>
            <a:ext cx="2109155" cy="411480"/>
          </a:xfrm>
          <a:prstGeom prst="rect">
            <a:avLst/>
          </a:prstGeom>
          <a:solidFill>
            <a:srgbClr val="0E6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Helvetica"/>
              </a:rPr>
              <a:t>Validate (offline)  (11)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41270" y="2103120"/>
            <a:ext cx="2109155" cy="4297680"/>
          </a:xfrm>
          <a:prstGeom prst="rect">
            <a:avLst/>
          </a:prstGeom>
          <a:noFill/>
        </p:spPr>
        <p:txBody>
          <a:bodyPr wrap="square" rIns="45720">
            <a:spAutoFit/>
          </a:bodyPr>
          <a:lstStyle/>
          <a:p>
            <a:pPr algn="l"/>
            <a:r>
              <a:rPr sz="1000">
                <a:solidFill>
                  <a:srgbClr val="0F1E3D"/>
                </a:solidFill>
                <a:latin typeface="Menlo"/>
              </a:rPr>
              <a:t>validate_yaml</a:t>
            </a:r>
          </a:p>
          <a:p>
            <a:pPr algn="l"/>
            <a:r>
              <a:rPr sz="1000">
                <a:solidFill>
                  <a:srgbClr val="0F1E3D"/>
                </a:solidFill>
                <a:latin typeface="Menlo"/>
              </a:rPr>
              <a:t>compile_yaml</a:t>
            </a:r>
          </a:p>
          <a:p>
            <a:pPr algn="l"/>
            <a:r>
              <a:rPr sz="1000">
                <a:solidFill>
                  <a:srgbClr val="0F1E3D"/>
                </a:solidFill>
                <a:latin typeface="Menlo"/>
              </a:rPr>
              <a:t>resolve_yaml</a:t>
            </a:r>
          </a:p>
          <a:p>
            <a:pPr algn="l"/>
            <a:r>
              <a:rPr sz="1000">
                <a:solidFill>
                  <a:srgbClr val="0F1E3D"/>
                </a:solidFill>
                <a:latin typeface="Menlo"/>
              </a:rPr>
              <a:t>render_jinja</a:t>
            </a:r>
          </a:p>
          <a:p>
            <a:pPr algn="l"/>
            <a:r>
              <a:rPr sz="1000">
                <a:solidFill>
                  <a:srgbClr val="0F1E3D"/>
                </a:solidFill>
                <a:latin typeface="Menlo"/>
              </a:rPr>
              <a:t>analyze_playbook</a:t>
            </a:r>
          </a:p>
          <a:p>
            <a:pPr algn="l"/>
            <a:r>
              <a:rPr sz="1000">
                <a:solidFill>
                  <a:srgbClr val="0F1E3D"/>
                </a:solidFill>
                <a:latin typeface="Menlo"/>
              </a:rPr>
              <a:t>suggest_fix_for_diagnostic</a:t>
            </a:r>
          </a:p>
          <a:p>
            <a:pPr algn="l"/>
            <a:r>
              <a:rPr sz="1000">
                <a:solidFill>
                  <a:srgbClr val="0F1E3D"/>
                </a:solidFill>
                <a:latin typeface="Menlo"/>
              </a:rPr>
              <a:t>step_through_playbook</a:t>
            </a:r>
          </a:p>
          <a:p>
            <a:pPr algn="l"/>
            <a:r>
              <a:rPr sz="1000">
                <a:solidFill>
                  <a:srgbClr val="0F1E3D"/>
                </a:solidFill>
                <a:latin typeface="Menlo"/>
              </a:rPr>
              <a:t>step_test</a:t>
            </a:r>
          </a:p>
          <a:p>
            <a:pPr algn="l"/>
            <a:r>
              <a:rPr sz="1000">
                <a:solidFill>
                  <a:srgbClr val="0F1E3D"/>
                </a:solidFill>
                <a:latin typeface="Menlo"/>
              </a:rPr>
              <a:t>precheck_picklist_value</a:t>
            </a:r>
          </a:p>
          <a:p>
            <a:pPr algn="l"/>
            <a:r>
              <a:rPr sz="1000">
                <a:solidFill>
                  <a:srgbClr val="0F1E3D"/>
                </a:solidFill>
                <a:latin typeface="Menlo"/>
              </a:rPr>
              <a:t>precheck_connector_installed</a:t>
            </a:r>
          </a:p>
          <a:p>
            <a:pPr algn="l"/>
            <a:r>
              <a:rPr sz="1000">
                <a:solidFill>
                  <a:srgbClr val="0F1E3D"/>
                </a:solidFill>
                <a:latin typeface="Menlo"/>
              </a:rPr>
              <a:t>healthcheck_connector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287585" y="1645920"/>
            <a:ext cx="2109155" cy="411480"/>
          </a:xfrm>
          <a:prstGeom prst="rect">
            <a:avLst/>
          </a:prstGeom>
          <a:solidFill>
            <a:srgbClr val="C886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Helvetica"/>
              </a:rPr>
              <a:t>Live  (6)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87585" y="2103120"/>
            <a:ext cx="2109155" cy="4297680"/>
          </a:xfrm>
          <a:prstGeom prst="rect">
            <a:avLst/>
          </a:prstGeom>
          <a:noFill/>
        </p:spPr>
        <p:txBody>
          <a:bodyPr wrap="square" rIns="45720">
            <a:spAutoFit/>
          </a:bodyPr>
          <a:lstStyle/>
          <a:p>
            <a:pPr algn="l"/>
            <a:r>
              <a:rPr sz="1000">
                <a:solidFill>
                  <a:srgbClr val="0F1E3D"/>
                </a:solidFill>
                <a:latin typeface="Menlo"/>
              </a:rPr>
              <a:t>push_playbook</a:t>
            </a:r>
          </a:p>
          <a:p>
            <a:pPr algn="l"/>
            <a:r>
              <a:rPr sz="1000">
                <a:solidFill>
                  <a:srgbClr val="0F1E3D"/>
                </a:solidFill>
                <a:latin typeface="Menlo"/>
              </a:rPr>
              <a:t>run_op</a:t>
            </a:r>
          </a:p>
          <a:p>
            <a:pPr algn="l"/>
            <a:r>
              <a:rPr sz="1000">
                <a:solidFill>
                  <a:srgbClr val="0F1E3D"/>
                </a:solidFill>
                <a:latin typeface="Menlo"/>
              </a:rPr>
              <a:t>run_playbook</a:t>
            </a:r>
          </a:p>
          <a:p>
            <a:pPr algn="l"/>
            <a:r>
              <a:rPr sz="1000">
                <a:solidFill>
                  <a:srgbClr val="0F1E3D"/>
                </a:solidFill>
                <a:latin typeface="Menlo"/>
              </a:rPr>
              <a:t>dry_run_playbook</a:t>
            </a:r>
          </a:p>
          <a:p>
            <a:pPr algn="l"/>
            <a:r>
              <a:rPr sz="1000">
                <a:solidFill>
                  <a:srgbClr val="0F1E3D"/>
                </a:solidFill>
                <a:latin typeface="Menlo"/>
              </a:rPr>
              <a:t>search_module_records</a:t>
            </a:r>
          </a:p>
          <a:p>
            <a:pPr algn="l"/>
            <a:r>
              <a:rPr sz="1000">
                <a:solidFill>
                  <a:srgbClr val="0F1E3D"/>
                </a:solidFill>
                <a:latin typeface="Menlo"/>
              </a:rPr>
              <a:t>test_find_record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533900" y="1645920"/>
            <a:ext cx="2109155" cy="411480"/>
          </a:xfrm>
          <a:prstGeom prst="rect">
            <a:avLst/>
          </a:prstGeom>
          <a:solidFill>
            <a:srgbClr val="5A2D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Helvetica"/>
              </a:rPr>
              <a:t>Diagnose  (8)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33900" y="2103120"/>
            <a:ext cx="2109155" cy="4297680"/>
          </a:xfrm>
          <a:prstGeom prst="rect">
            <a:avLst/>
          </a:prstGeom>
          <a:noFill/>
        </p:spPr>
        <p:txBody>
          <a:bodyPr wrap="square" rIns="45720">
            <a:spAutoFit/>
          </a:bodyPr>
          <a:lstStyle/>
          <a:p>
            <a:pPr algn="l"/>
            <a:r>
              <a:rPr sz="1000">
                <a:solidFill>
                  <a:srgbClr val="0F1E3D"/>
                </a:solidFill>
                <a:latin typeface="Menlo"/>
              </a:rPr>
              <a:t>list_recent_failed_runs</a:t>
            </a:r>
          </a:p>
          <a:p>
            <a:pPr algn="l"/>
            <a:r>
              <a:rPr sz="1000">
                <a:solidFill>
                  <a:srgbClr val="0F1E3D"/>
                </a:solidFill>
                <a:latin typeface="Menlo"/>
              </a:rPr>
              <a:t>list_playbook_runs</a:t>
            </a:r>
          </a:p>
          <a:p>
            <a:pPr algn="l"/>
            <a:r>
              <a:rPr sz="1000">
                <a:solidFill>
                  <a:srgbClr val="0F1E3D"/>
                </a:solidFill>
                <a:latin typeface="Menlo"/>
              </a:rPr>
              <a:t>get_run_env</a:t>
            </a:r>
          </a:p>
          <a:p>
            <a:pPr algn="l"/>
            <a:r>
              <a:rPr sz="1000">
                <a:solidFill>
                  <a:srgbClr val="0F1E3D"/>
                </a:solidFill>
                <a:latin typeface="Menlo"/>
              </a:rPr>
              <a:t>diagnose_yaml_against_pb_execution</a:t>
            </a:r>
          </a:p>
          <a:p>
            <a:pPr algn="l"/>
            <a:r>
              <a:rPr sz="1000">
                <a:solidFill>
                  <a:srgbClr val="0F1E3D"/>
                </a:solidFill>
                <a:latin typeface="Menlo"/>
              </a:rPr>
              <a:t>assert_playbook_outcome</a:t>
            </a:r>
          </a:p>
          <a:p>
            <a:pPr algn="l"/>
            <a:r>
              <a:rPr sz="1000">
                <a:solidFill>
                  <a:srgbClr val="0F1E3D"/>
                </a:solidFill>
                <a:latin typeface="Menlo"/>
              </a:rPr>
              <a:t>verification_status</a:t>
            </a:r>
          </a:p>
          <a:p>
            <a:pPr algn="l"/>
            <a:r>
              <a:rPr sz="1000">
                <a:solidFill>
                  <a:srgbClr val="0F1E3D"/>
                </a:solidFill>
                <a:latin typeface="Menlo"/>
              </a:rPr>
              <a:t>review_chat_session</a:t>
            </a:r>
          </a:p>
          <a:p>
            <a:pPr algn="l"/>
            <a:r>
              <a:rPr sz="1000">
                <a:solidFill>
                  <a:srgbClr val="0F1E3D"/>
                </a:solidFill>
                <a:latin typeface="Menlo"/>
              </a:rPr>
              <a:t>review_recent_thumbs_down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E83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E3D"/>
                </a:solidFill>
                <a:latin typeface="Helvetica"/>
              </a:rPr>
              <a:t>Recipes — from blank page to working playbook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9441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Recipe generators emit known-good playbooks for common archetypes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Today: threat-feed ingestion, data ingestion (alerts/incidents)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Roadmap: enrichment, triage, containment, approval-gated actions, orchestration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Each recipe ships compile-clean, with TODO notes only where the user must intervene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Layered ruleset validator enforces archetype-specific rules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E83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E3D"/>
                </a:solidFill>
                <a:latin typeface="Helvetica"/>
              </a:rPr>
              <a:t>HTTP virtual-connector — covering the long tail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9441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FortiSOAR ships a generic HTTP connector (10 ops, including http_paginate)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We crawled 207,419 API examples across 6,927 third-party products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search_api_examples + synthesize_http_step translate a catalog entry → http_request step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Pre-fills method / path / auth / params from real examples — not LLM guesses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Result: the agent reaches vendors we don't have a native connector for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E83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E3D"/>
                </a:solidFill>
                <a:latin typeface="Helvetica"/>
              </a:rPr>
              <a:t>Roadmap — vendor doc ingest (zero-day SaaS support)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9441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Today: 207K examples crawled from API marketplaces — already covers most major vendors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Next: ingest vendors directly from their published docs the day they ship them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    • OpenAPI/Swagger specs — most modern SaaS vendors publish one; full op + schema graph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    • Postman collections — covers vendors that ship Postman instead of OpenAPI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    • AsyncAPI / GraphQL schemas — adds streaming + graph endpoints to the catalog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Auth pattern library: cluster recurring auth flows (Bearer / OAuth2 / HMAC / JWT)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    so the agent picks a named pattern instead of re-deriving from one example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Per-vendor recipe scaffolds: spec metadata → ready-made enrich / contain / triage starters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Outcome: a new vendor goes live in fsrpb the same day they publish their API docs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E83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E3D"/>
                </a:solidFill>
                <a:latin typeface="Helvetica"/>
              </a:rPr>
              <a:t>Live verification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9441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validate_yaml catches shape errors before push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render_jinja(template, from_pb_execution=&lt;pk&gt;) resolves Jinja against a real past run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run_op executes one connector op live and caches observed output shape in SQLite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dry_run_playbook (in build) imports → executes → cleans up on dev FSR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Failures are evidence — if a demo breaks, that's a real bug to file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E83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E3D"/>
                </a:solidFill>
                <a:latin typeface="Helvetica"/>
              </a:rPr>
              <a:t>Demo 1 — vague ask to working playbook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9441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Prompt: "Look up an IP on VirusTotal and update the alert"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Agent: find_recipe → find_connector → get_op_schema → draft YAML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Gates: validate_yaml → analyze_playbook → (only if 0 errors) compile → push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Render-path validator catches a vars.steps typo in seconds, before any push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Total time prompt-to-passing-run: minutes — and every step is auditable in chat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1027" y="4389120"/>
            <a:ext cx="1143000" cy="548640"/>
          </a:xfrm>
          <a:prstGeom prst="roundRect">
            <a:avLst/>
          </a:prstGeom>
          <a:solidFill>
            <a:srgbClr val="0F1E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FFFFFF"/>
                </a:solidFill>
                <a:latin typeface="Helvetica"/>
              </a:rPr>
              <a:t>find_connector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55467" y="4389120"/>
            <a:ext cx="1143000" cy="548640"/>
          </a:xfrm>
          <a:prstGeom prst="roundRect">
            <a:avLst/>
          </a:prstGeom>
          <a:solidFill>
            <a:srgbClr val="E83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FFFFFF"/>
                </a:solidFill>
                <a:latin typeface="Helvetica"/>
              </a:rPr>
              <a:t>get_op_schema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89907" y="4389120"/>
            <a:ext cx="1143000" cy="548640"/>
          </a:xfrm>
          <a:prstGeom prst="roundRect">
            <a:avLst/>
          </a:prstGeom>
          <a:solidFill>
            <a:srgbClr val="0F1E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FFFFFF"/>
                </a:solidFill>
                <a:latin typeface="Helvetica"/>
              </a:rPr>
              <a:t>emit YAML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24347" y="4389120"/>
            <a:ext cx="1143000" cy="548640"/>
          </a:xfrm>
          <a:prstGeom prst="roundRect">
            <a:avLst/>
          </a:prstGeom>
          <a:solidFill>
            <a:srgbClr val="E83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FFFFFF"/>
                </a:solidFill>
                <a:latin typeface="Helvetica"/>
              </a:rPr>
              <a:t>validate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58787" y="4389120"/>
            <a:ext cx="1143000" cy="548640"/>
          </a:xfrm>
          <a:prstGeom prst="roundRect">
            <a:avLst/>
          </a:prstGeom>
          <a:solidFill>
            <a:srgbClr val="0F1E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FFFFFF"/>
                </a:solidFill>
                <a:latin typeface="Helvetica"/>
              </a:rPr>
              <a:t>compile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93227" y="4389120"/>
            <a:ext cx="1143000" cy="548640"/>
          </a:xfrm>
          <a:prstGeom prst="roundRect">
            <a:avLst/>
          </a:prstGeom>
          <a:solidFill>
            <a:srgbClr val="E83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FFFFFF"/>
                </a:solidFill>
                <a:latin typeface="Helvetica"/>
              </a:rPr>
              <a:t>push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227667" y="4389120"/>
            <a:ext cx="1143000" cy="548640"/>
          </a:xfrm>
          <a:prstGeom prst="roundRect">
            <a:avLst/>
          </a:prstGeom>
          <a:solidFill>
            <a:srgbClr val="0F1E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FFFFFF"/>
                </a:solidFill>
                <a:latin typeface="Helvetica"/>
              </a:rPr>
              <a:t>run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E83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E3D"/>
                </a:solidFill>
                <a:latin typeface="Helvetica"/>
              </a:rPr>
              <a:t>Demo 2 — the killer: triage and fix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9441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"My playbook is broken. Figure out which one and fix it."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Agent: pull → analyze_playbook → diagnostics grouped by step + severity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C2 missing_key fires: "data.statuss" — close-key suggestion: "status"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suggest_fix_for_diagnostic returns a structured patch — agent applies, re-analyzes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Diff shown to user, push on confirm — none of this is possible in FSR Designer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E83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E3D"/>
                </a:solidFill>
                <a:latin typeface="Helvetica"/>
              </a:rPr>
              <a:t>What we've indexed — FortiSOAR knowledge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A4A4A"/>
                </a:solidFill>
                <a:latin typeface="Helvetica"/>
              </a:rPr>
              <a:t>Every number is a real row in a queryable index, refreshed from the live appliance.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00887" y="1920240"/>
            <a:ext cx="3474720" cy="1280160"/>
          </a:xfrm>
          <a:prstGeom prst="roundRect">
            <a:avLst/>
          </a:prstGeom>
          <a:solidFill>
            <a:srgbClr val="0F1E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91440"/>
          <a:lstStyle/>
          <a:p>
            <a:pPr algn="ctr"/>
            <a:r>
              <a:rPr sz="3600" b="1">
                <a:solidFill>
                  <a:srgbClr val="FFFFFF"/>
                </a:solidFill>
                <a:latin typeface="Helvetica"/>
              </a:rPr>
              <a:t>714</a:t>
            </a:r>
          </a:p>
          <a:p>
            <a:pPr algn="ctr"/>
            <a:r>
              <a:rPr sz="1300">
                <a:solidFill>
                  <a:srgbClr val="CCCCD4"/>
                </a:solidFill>
                <a:latin typeface="Helvetica"/>
              </a:rPr>
              <a:t>Connectors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58487" y="1920240"/>
            <a:ext cx="3474720" cy="1280160"/>
          </a:xfrm>
          <a:prstGeom prst="roundRect">
            <a:avLst/>
          </a:prstGeom>
          <a:solidFill>
            <a:srgbClr val="0F1E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91440"/>
          <a:lstStyle/>
          <a:p>
            <a:pPr algn="ctr"/>
            <a:r>
              <a:rPr sz="3600" b="1">
                <a:solidFill>
                  <a:srgbClr val="FFFFFF"/>
                </a:solidFill>
                <a:latin typeface="Helvetica"/>
              </a:rPr>
              <a:t>6,773</a:t>
            </a:r>
          </a:p>
          <a:p>
            <a:pPr algn="ctr"/>
            <a:r>
              <a:rPr sz="1300">
                <a:solidFill>
                  <a:srgbClr val="CCCCD4"/>
                </a:solidFill>
                <a:latin typeface="Helvetica"/>
              </a:rPr>
              <a:t>Operations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087" y="1920240"/>
            <a:ext cx="3474720" cy="1280160"/>
          </a:xfrm>
          <a:prstGeom prst="roundRect">
            <a:avLst/>
          </a:prstGeom>
          <a:solidFill>
            <a:srgbClr val="0F1E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91440"/>
          <a:lstStyle/>
          <a:p>
            <a:pPr algn="ctr"/>
            <a:r>
              <a:rPr sz="3600" b="1">
                <a:solidFill>
                  <a:srgbClr val="FFFFFF"/>
                </a:solidFill>
                <a:latin typeface="Helvetica"/>
              </a:rPr>
              <a:t>26,093</a:t>
            </a:r>
          </a:p>
          <a:p>
            <a:pPr algn="ctr"/>
            <a:r>
              <a:rPr sz="1300">
                <a:solidFill>
                  <a:srgbClr val="CCCCD4"/>
                </a:solidFill>
                <a:latin typeface="Helvetica"/>
              </a:rPr>
              <a:t>Op parameters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0887" y="3383280"/>
            <a:ext cx="3474720" cy="1280160"/>
          </a:xfrm>
          <a:prstGeom prst="roundRect">
            <a:avLst/>
          </a:prstGeom>
          <a:solidFill>
            <a:srgbClr val="0F1E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91440"/>
          <a:lstStyle/>
          <a:p>
            <a:pPr algn="ctr"/>
            <a:r>
              <a:rPr sz="3600" b="1">
                <a:solidFill>
                  <a:srgbClr val="FFFFFF"/>
                </a:solidFill>
                <a:latin typeface="Helvetica"/>
              </a:rPr>
              <a:t>43</a:t>
            </a:r>
          </a:p>
          <a:p>
            <a:pPr algn="ctr"/>
            <a:r>
              <a:rPr sz="1300">
                <a:solidFill>
                  <a:srgbClr val="CCCCD4"/>
                </a:solidFill>
                <a:latin typeface="Helvetica"/>
              </a:rPr>
              <a:t>Step types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58487" y="3383280"/>
            <a:ext cx="3474720" cy="1280160"/>
          </a:xfrm>
          <a:prstGeom prst="roundRect">
            <a:avLst/>
          </a:prstGeom>
          <a:solidFill>
            <a:srgbClr val="0F1E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91440"/>
          <a:lstStyle/>
          <a:p>
            <a:pPr algn="ctr"/>
            <a:r>
              <a:rPr sz="3600" b="1">
                <a:solidFill>
                  <a:srgbClr val="FFFFFF"/>
                </a:solidFill>
                <a:latin typeface="Helvetica"/>
              </a:rPr>
              <a:t>172</a:t>
            </a:r>
          </a:p>
          <a:p>
            <a:pPr algn="ctr"/>
            <a:r>
              <a:rPr sz="1300">
                <a:solidFill>
                  <a:srgbClr val="CCCCD4"/>
                </a:solidFill>
                <a:latin typeface="Helvetica"/>
              </a:rPr>
              <a:t>Jinja filters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16087" y="3383280"/>
            <a:ext cx="3474720" cy="1280160"/>
          </a:xfrm>
          <a:prstGeom prst="roundRect">
            <a:avLst/>
          </a:prstGeom>
          <a:solidFill>
            <a:srgbClr val="0F1E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91440"/>
          <a:lstStyle/>
          <a:p>
            <a:pPr algn="ctr"/>
            <a:r>
              <a:rPr sz="3600" b="1">
                <a:solidFill>
                  <a:srgbClr val="FFFFFF"/>
                </a:solidFill>
                <a:latin typeface="Helvetica"/>
              </a:rPr>
              <a:t>1,664</a:t>
            </a:r>
          </a:p>
          <a:p>
            <a:pPr algn="ctr"/>
            <a:r>
              <a:rPr sz="1300">
                <a:solidFill>
                  <a:srgbClr val="CCCCD4"/>
                </a:solidFill>
                <a:latin typeface="Helvetica"/>
              </a:rPr>
              <a:t>Live playbooks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93776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3E3E"/>
                </a:solidFill>
                <a:latin typeface="Helvetica"/>
              </a:rPr>
              <a:t>Trust ladder: 1,959 rows confirmed live + tested. The agent does SQL lookups before it touches an LLM.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E83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E3D"/>
                </a:solidFill>
                <a:latin typeface="Helvetica"/>
              </a:rPr>
              <a:t>What we've indexed — third-party APIs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9441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A4A4A"/>
                </a:solidFill>
                <a:latin typeface="Helvetica"/>
              </a:rPr>
              <a:t>The HTTP virtual-connector corpus: thousands of vendors reachable without a native connector.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00887" y="1920240"/>
            <a:ext cx="3474720" cy="1280160"/>
          </a:xfrm>
          <a:prstGeom prst="roundRect">
            <a:avLst/>
          </a:prstGeom>
          <a:solidFill>
            <a:srgbClr val="0F1E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91440"/>
          <a:lstStyle/>
          <a:p>
            <a:pPr algn="ctr"/>
            <a:r>
              <a:rPr sz="3600" b="1">
                <a:solidFill>
                  <a:srgbClr val="FFFFFF"/>
                </a:solidFill>
                <a:latin typeface="Helvetica"/>
              </a:rPr>
              <a:t>6,927</a:t>
            </a:r>
          </a:p>
          <a:p>
            <a:pPr algn="ctr"/>
            <a:r>
              <a:rPr sz="1300">
                <a:solidFill>
                  <a:srgbClr val="CCCCD4"/>
                </a:solidFill>
                <a:latin typeface="Helvetica"/>
              </a:rPr>
              <a:t>Products covered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58487" y="1920240"/>
            <a:ext cx="3474720" cy="1280160"/>
          </a:xfrm>
          <a:prstGeom prst="roundRect">
            <a:avLst/>
          </a:prstGeom>
          <a:solidFill>
            <a:srgbClr val="0F1E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91440"/>
          <a:lstStyle/>
          <a:p>
            <a:pPr algn="ctr"/>
            <a:r>
              <a:rPr sz="3600" b="1">
                <a:solidFill>
                  <a:srgbClr val="FFFFFF"/>
                </a:solidFill>
                <a:latin typeface="Helvetica"/>
              </a:rPr>
              <a:t>207,419</a:t>
            </a:r>
          </a:p>
          <a:p>
            <a:pPr algn="ctr"/>
            <a:r>
              <a:rPr sz="1300">
                <a:solidFill>
                  <a:srgbClr val="CCCCD4"/>
                </a:solidFill>
                <a:latin typeface="Helvetica"/>
              </a:rPr>
              <a:t>API examples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6087" y="1920240"/>
            <a:ext cx="3474720" cy="1280160"/>
          </a:xfrm>
          <a:prstGeom prst="roundRect">
            <a:avLst/>
          </a:prstGeom>
          <a:solidFill>
            <a:srgbClr val="0F1E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91440"/>
          <a:lstStyle/>
          <a:p>
            <a:pPr algn="ctr"/>
            <a:r>
              <a:rPr sz="3600" b="1">
                <a:solidFill>
                  <a:srgbClr val="FFFFFF"/>
                </a:solidFill>
                <a:latin typeface="Helvetica"/>
              </a:rPr>
              <a:t>6,272</a:t>
            </a:r>
          </a:p>
          <a:p>
            <a:pPr algn="ctr"/>
            <a:r>
              <a:rPr sz="1300">
                <a:solidFill>
                  <a:srgbClr val="CCCCD4"/>
                </a:solidFill>
                <a:latin typeface="Helvetica"/>
              </a:rPr>
              <a:t>Lifecycle records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0887" y="3383280"/>
            <a:ext cx="3474720" cy="1280160"/>
          </a:xfrm>
          <a:prstGeom prst="roundRect">
            <a:avLst/>
          </a:prstGeom>
          <a:solidFill>
            <a:srgbClr val="0F1E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91440"/>
          <a:lstStyle/>
          <a:p>
            <a:pPr algn="ctr"/>
            <a:r>
              <a:rPr sz="3600" b="1">
                <a:solidFill>
                  <a:srgbClr val="FFFFFF"/>
                </a:solidFill>
                <a:latin typeface="Helvetica"/>
              </a:rPr>
              <a:t>33,783</a:t>
            </a:r>
          </a:p>
          <a:p>
            <a:pPr algn="ctr"/>
            <a:r>
              <a:rPr sz="1300">
                <a:solidFill>
                  <a:srgbClr val="CCCCD4"/>
                </a:solidFill>
                <a:latin typeface="Helvetica"/>
              </a:rPr>
              <a:t>Microsoft Graph alone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58487" y="3383280"/>
            <a:ext cx="3474720" cy="1280160"/>
          </a:xfrm>
          <a:prstGeom prst="roundRect">
            <a:avLst/>
          </a:prstGeom>
          <a:solidFill>
            <a:srgbClr val="0F1E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91440"/>
          <a:lstStyle/>
          <a:p>
            <a:pPr algn="ctr"/>
            <a:r>
              <a:rPr sz="3600" b="1">
                <a:solidFill>
                  <a:srgbClr val="FFFFFF"/>
                </a:solidFill>
                <a:latin typeface="Helvetica"/>
              </a:rPr>
              <a:t>13,818</a:t>
            </a:r>
          </a:p>
          <a:p>
            <a:pPr algn="ctr"/>
            <a:r>
              <a:rPr sz="1300">
                <a:solidFill>
                  <a:srgbClr val="CCCCD4"/>
                </a:solidFill>
                <a:latin typeface="Helvetica"/>
              </a:rPr>
              <a:t>GitHub v3 REST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16087" y="3383280"/>
            <a:ext cx="3474720" cy="1280160"/>
          </a:xfrm>
          <a:prstGeom prst="roundRect">
            <a:avLst/>
          </a:prstGeom>
          <a:solidFill>
            <a:srgbClr val="0F1E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91440"/>
          <a:lstStyle/>
          <a:p>
            <a:pPr algn="ctr"/>
            <a:r>
              <a:rPr sz="3600" b="1">
                <a:solidFill>
                  <a:srgbClr val="FFFFFF"/>
                </a:solidFill>
                <a:latin typeface="Helvetica"/>
              </a:rPr>
              <a:t>FTS5</a:t>
            </a:r>
          </a:p>
          <a:p>
            <a:pPr algn="ctr"/>
            <a:r>
              <a:rPr sz="1300">
                <a:solidFill>
                  <a:srgbClr val="CCCCD4"/>
                </a:solidFill>
                <a:latin typeface="Helvetica"/>
              </a:rPr>
              <a:t>Full-text indexed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93776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3E3E"/>
                </a:solidFill>
                <a:latin typeface="Helvetica"/>
              </a:rPr>
              <a:t>search_api_examples + synthesize_http_step turn any of these into a working http_request step. Deterministic — no LLM in the translation.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E83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E3D"/>
                </a:solidFill>
                <a:latin typeface="Helvetica"/>
              </a:rPr>
              <a:t>What's already shipped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9441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714 connectors / 6,773 ops / 7,442 corpus playbook-steps indexed in SQLite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Compiler v1: parser → resolver → validator → emitter (round-trip lossless)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Render-path validator: simulator + 4 heuristic checks (C1-C4) + suggest_fix_for_diagnostic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9 live-FSR probe scenarios + 22 fixture-backed parity tests pinning runtime semantics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Step-param audit (docs/step_params/) — 23 reports, surfacing real resolver gaps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Visual editor diagnostics: per-node badges + drawer + suggest-fix Apply loop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30+ MCP tools; agent prompt with mandatory analyze gate; 407 Python + 214 JS tests green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fsrpb CLI: validate · analyze · compile · push · diff · dump-step-params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E83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E3D"/>
                </a:solidFill>
                <a:latin typeface="Helvetica"/>
              </a:rPr>
              <a:t>What's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9441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Phase 5 analyzer checks: type mismatch, index-into-non-list, dead-step detection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Recursive output_shape — catch typos in nested paths (vars.steps.X.data.foo)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Resolver gap close-out — the dump-step-params reports already list each by row count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Inspector "Render path" tab: rendered args + simulated output + consumed paths inline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Bulk fix: same typo across N steps → one click patches all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LLM evaluation harness — measure "any model works" with repeatable scenarios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Vendor doc ingest (see preceding slide) — zero-day SaaS support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Recipe expansion: enrichment, triage, containment, approval-gated workflows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E83E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F1E3D"/>
                </a:solidFill>
                <a:latin typeface="Helvetica"/>
              </a:rPr>
              <a:t>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9441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AI is the right driver, but only because the cornerstones underneath are deterministic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Every cornerstone (compiler, validator, probes, audit) stands alone as a useful tool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The agent prompt's analyze gate is the system's seatbelt — verifiable, not aspirational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Same MCP tools serve chat, CLI, and visual editor — one source of truth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YAML in git + analyze-before-push = playbooks that can be reviewed, promoted, rolled back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4A4A4A"/>
                </a:solidFill>
                <a:latin typeface="Helvetica"/>
              </a:rPr>
              <a:t>•  If you swap the LLM tomorrow, everything still works. That's the value of the chassis.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